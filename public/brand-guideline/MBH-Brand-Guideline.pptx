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igra Extra-Light Italics" charset="1" panose="00000300000000000000"/>
      <p:regular r:id="rId16"/>
    </p:embeddedFont>
    <p:embeddedFont>
      <p:font typeface="Plus Jakarta Sans Bold" charset="1" panose="00000000000000000000"/>
      <p:regular r:id="rId17"/>
    </p:embeddedFont>
    <p:embeddedFont>
      <p:font typeface="Plus Jakarta Sans" charset="1" panose="00000000000000000000"/>
      <p:regular r:id="rId18"/>
    </p:embeddedFont>
    <p:embeddedFont>
      <p:font typeface="Plus Jakarta Sans Italics" charset="1" panose="00000000000000000000"/>
      <p:regular r:id="rId19"/>
    </p:embeddedFont>
    <p:embeddedFont>
      <p:font typeface="Migra Extra-Light" charset="1" panose="00000300000000000000"/>
      <p:regular r:id="rId20"/>
    </p:embeddedFont>
    <p:embeddedFont>
      <p:font typeface="Plus Jakarta Sans Medium Italics" charset="1" panose="00000000000000000000"/>
      <p:regular r:id="rId21"/>
    </p:embeddedFont>
    <p:embeddedFont>
      <p:font typeface="Plus Jakarta Sans Medium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jpeg" Type="http://schemas.openxmlformats.org/officeDocument/2006/relationships/image"/><Relationship Id="rId4" Target="../media/image7.png" Type="http://schemas.openxmlformats.org/officeDocument/2006/relationships/image"/><Relationship Id="rId5" Target="../media/image8.jpe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jpe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53355" y="3459102"/>
            <a:ext cx="12781290" cy="429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61"/>
              </a:lnSpc>
              <a:spcBef>
                <a:spcPct val="0"/>
              </a:spcBef>
            </a:pPr>
            <a:r>
              <a:rPr lang="en-US" sz="23758" i="true" spc="-997">
                <a:solidFill>
                  <a:srgbClr val="1A6070"/>
                </a:solidFill>
                <a:latin typeface="Migra Extra-Light Italics"/>
                <a:ea typeface="Migra Extra-Light Italics"/>
                <a:cs typeface="Migra Extra-Light Italics"/>
                <a:sym typeface="Migra Extra-Light Italics"/>
              </a:rPr>
              <a:t>Guidelines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359375" y="7368880"/>
            <a:ext cx="3569250" cy="771004"/>
            <a:chOff x="0" y="0"/>
            <a:chExt cx="940050" cy="2030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0050" cy="203063"/>
            </a:xfrm>
            <a:custGeom>
              <a:avLst/>
              <a:gdLst/>
              <a:ahLst/>
              <a:cxnLst/>
              <a:rect r="r" b="b" t="t" l="l"/>
              <a:pathLst>
                <a:path h="203063" w="940050">
                  <a:moveTo>
                    <a:pt x="101531" y="0"/>
                  </a:moveTo>
                  <a:lnTo>
                    <a:pt x="838518" y="0"/>
                  </a:lnTo>
                  <a:cubicBezTo>
                    <a:pt x="865446" y="0"/>
                    <a:pt x="891271" y="10697"/>
                    <a:pt x="910312" y="29738"/>
                  </a:cubicBezTo>
                  <a:cubicBezTo>
                    <a:pt x="929352" y="48779"/>
                    <a:pt x="940050" y="74604"/>
                    <a:pt x="940050" y="101531"/>
                  </a:cubicBezTo>
                  <a:lnTo>
                    <a:pt x="940050" y="101531"/>
                  </a:lnTo>
                  <a:cubicBezTo>
                    <a:pt x="940050" y="157606"/>
                    <a:pt x="894592" y="203063"/>
                    <a:pt x="838518" y="203063"/>
                  </a:cubicBezTo>
                  <a:lnTo>
                    <a:pt x="101531" y="203063"/>
                  </a:lnTo>
                  <a:cubicBezTo>
                    <a:pt x="74604" y="203063"/>
                    <a:pt x="48779" y="192366"/>
                    <a:pt x="29738" y="173325"/>
                  </a:cubicBezTo>
                  <a:cubicBezTo>
                    <a:pt x="10697" y="154284"/>
                    <a:pt x="0" y="128459"/>
                    <a:pt x="0" y="101531"/>
                  </a:cubicBezTo>
                  <a:lnTo>
                    <a:pt x="0" y="101531"/>
                  </a:lnTo>
                  <a:cubicBezTo>
                    <a:pt x="0" y="74604"/>
                    <a:pt x="10697" y="48779"/>
                    <a:pt x="29738" y="29738"/>
                  </a:cubicBezTo>
                  <a:cubicBezTo>
                    <a:pt x="48779" y="10697"/>
                    <a:pt x="74604" y="0"/>
                    <a:pt x="101531" y="0"/>
                  </a:cubicBezTo>
                  <a:close/>
                </a:path>
              </a:pathLst>
            </a:custGeom>
            <a:ln w="28575" cap="rnd">
              <a:solidFill>
                <a:srgbClr val="641919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40050" cy="250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1A6070"/>
                  </a:solidFill>
                  <a:latin typeface="Plus Jakarta Sans Bold"/>
                  <a:ea typeface="Plus Jakarta Sans Bold"/>
                  <a:cs typeface="Plus Jakarta Sans Bold"/>
                  <a:sym typeface="Plus Jakarta Sans Bold"/>
                </a:rPr>
                <a:t>MB HYDRAULIKK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65466" y="1144437"/>
            <a:ext cx="11157069" cy="354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4"/>
              </a:lnSpc>
              <a:spcBef>
                <a:spcPct val="0"/>
              </a:spcBef>
            </a:pPr>
            <a:r>
              <a:rPr lang="en-US" b="true" sz="20739" spc="-871">
                <a:solidFill>
                  <a:srgbClr val="1A607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BRAND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3450" y="8368030"/>
            <a:ext cx="3016438" cy="117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A607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guide for å representere verdiene og den visuelle identiteten til MB Hydraulikk på alle kontaktpunkter.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19062" y="9253855"/>
            <a:ext cx="301643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1A607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2026-2027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60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95931"/>
            <a:ext cx="3978100" cy="4646255"/>
            <a:chOff x="0" y="0"/>
            <a:chExt cx="616312" cy="7198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6312" cy="719826"/>
            </a:xfrm>
            <a:custGeom>
              <a:avLst/>
              <a:gdLst/>
              <a:ahLst/>
              <a:cxnLst/>
              <a:rect r="r" b="b" t="t" l="l"/>
              <a:pathLst>
                <a:path h="719826" w="616312">
                  <a:moveTo>
                    <a:pt x="77845" y="0"/>
                  </a:moveTo>
                  <a:lnTo>
                    <a:pt x="538466" y="0"/>
                  </a:lnTo>
                  <a:cubicBezTo>
                    <a:pt x="559112" y="0"/>
                    <a:pt x="578913" y="8202"/>
                    <a:pt x="593511" y="22800"/>
                  </a:cubicBezTo>
                  <a:cubicBezTo>
                    <a:pt x="608110" y="37399"/>
                    <a:pt x="616312" y="57200"/>
                    <a:pt x="616312" y="77845"/>
                  </a:cubicBezTo>
                  <a:lnTo>
                    <a:pt x="616312" y="641981"/>
                  </a:lnTo>
                  <a:cubicBezTo>
                    <a:pt x="616312" y="684974"/>
                    <a:pt x="581459" y="719826"/>
                    <a:pt x="538466" y="719826"/>
                  </a:cubicBezTo>
                  <a:lnTo>
                    <a:pt x="77845" y="719826"/>
                  </a:lnTo>
                  <a:cubicBezTo>
                    <a:pt x="34853" y="719826"/>
                    <a:pt x="0" y="684974"/>
                    <a:pt x="0" y="641981"/>
                  </a:cubicBezTo>
                  <a:lnTo>
                    <a:pt x="0" y="77845"/>
                  </a:lnTo>
                  <a:cubicBezTo>
                    <a:pt x="0" y="34853"/>
                    <a:pt x="34853" y="0"/>
                    <a:pt x="77845" y="0"/>
                  </a:cubicBezTo>
                  <a:close/>
                </a:path>
              </a:pathLst>
            </a:custGeom>
            <a:blipFill>
              <a:blip r:embed="rId2"/>
              <a:stretch>
                <a:fillRect l="-60157" t="-6084" r="-67521" b="-2399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5388959"/>
            <a:ext cx="3978100" cy="4646255"/>
            <a:chOff x="0" y="0"/>
            <a:chExt cx="616312" cy="7198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6312" cy="719826"/>
            </a:xfrm>
            <a:custGeom>
              <a:avLst/>
              <a:gdLst/>
              <a:ahLst/>
              <a:cxnLst/>
              <a:rect r="r" b="b" t="t" l="l"/>
              <a:pathLst>
                <a:path h="719826" w="616312">
                  <a:moveTo>
                    <a:pt x="77845" y="0"/>
                  </a:moveTo>
                  <a:lnTo>
                    <a:pt x="538466" y="0"/>
                  </a:lnTo>
                  <a:cubicBezTo>
                    <a:pt x="559112" y="0"/>
                    <a:pt x="578913" y="8202"/>
                    <a:pt x="593511" y="22800"/>
                  </a:cubicBezTo>
                  <a:cubicBezTo>
                    <a:pt x="608110" y="37399"/>
                    <a:pt x="616312" y="57200"/>
                    <a:pt x="616312" y="77845"/>
                  </a:cubicBezTo>
                  <a:lnTo>
                    <a:pt x="616312" y="641981"/>
                  </a:lnTo>
                  <a:cubicBezTo>
                    <a:pt x="616312" y="684974"/>
                    <a:pt x="581459" y="719826"/>
                    <a:pt x="538466" y="719826"/>
                  </a:cubicBezTo>
                  <a:lnTo>
                    <a:pt x="77845" y="719826"/>
                  </a:lnTo>
                  <a:cubicBezTo>
                    <a:pt x="34853" y="719826"/>
                    <a:pt x="0" y="684974"/>
                    <a:pt x="0" y="641981"/>
                  </a:cubicBezTo>
                  <a:lnTo>
                    <a:pt x="0" y="77845"/>
                  </a:lnTo>
                  <a:cubicBezTo>
                    <a:pt x="0" y="34853"/>
                    <a:pt x="34853" y="0"/>
                    <a:pt x="77845" y="0"/>
                  </a:cubicBezTo>
                  <a:close/>
                </a:path>
              </a:pathLst>
            </a:custGeom>
            <a:blipFill>
              <a:blip r:embed="rId3"/>
              <a:stretch>
                <a:fillRect l="-84736" t="0" r="-23152" b="0"/>
              </a:stretch>
            </a:blipFill>
            <a:ln w="76200" cap="rnd">
              <a:solidFill>
                <a:srgbClr val="DD2A27"/>
              </a:soli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322391" y="3041090"/>
            <a:ext cx="3978100" cy="5246370"/>
            <a:chOff x="0" y="0"/>
            <a:chExt cx="616312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6312" cy="812800"/>
            </a:xfrm>
            <a:custGeom>
              <a:avLst/>
              <a:gdLst/>
              <a:ahLst/>
              <a:cxnLst/>
              <a:rect r="r" b="b" t="t" l="l"/>
              <a:pathLst>
                <a:path h="812800" w="616312">
                  <a:moveTo>
                    <a:pt x="77845" y="0"/>
                  </a:moveTo>
                  <a:lnTo>
                    <a:pt x="538466" y="0"/>
                  </a:lnTo>
                  <a:cubicBezTo>
                    <a:pt x="559112" y="0"/>
                    <a:pt x="578913" y="8202"/>
                    <a:pt x="593511" y="22800"/>
                  </a:cubicBezTo>
                  <a:cubicBezTo>
                    <a:pt x="608110" y="37399"/>
                    <a:pt x="616312" y="57200"/>
                    <a:pt x="616312" y="77845"/>
                  </a:cubicBezTo>
                  <a:lnTo>
                    <a:pt x="616312" y="734955"/>
                  </a:lnTo>
                  <a:cubicBezTo>
                    <a:pt x="616312" y="777947"/>
                    <a:pt x="581459" y="812800"/>
                    <a:pt x="538466" y="812800"/>
                  </a:cubicBezTo>
                  <a:lnTo>
                    <a:pt x="77845" y="812800"/>
                  </a:lnTo>
                  <a:cubicBezTo>
                    <a:pt x="34853" y="812800"/>
                    <a:pt x="0" y="777947"/>
                    <a:pt x="0" y="734955"/>
                  </a:cubicBezTo>
                  <a:lnTo>
                    <a:pt x="0" y="77845"/>
                  </a:lnTo>
                  <a:cubicBezTo>
                    <a:pt x="0" y="34853"/>
                    <a:pt x="34853" y="0"/>
                    <a:pt x="77845" y="0"/>
                  </a:cubicBezTo>
                  <a:close/>
                </a:path>
              </a:pathLst>
            </a:custGeom>
            <a:blipFill>
              <a:blip r:embed="rId4"/>
              <a:stretch>
                <a:fillRect l="-67600" t="0" r="-30042" b="0"/>
              </a:stretch>
            </a:blipFill>
            <a:ln w="76200" cap="rnd">
              <a:solidFill>
                <a:srgbClr val="DD2A27"/>
              </a:soli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5322391" y="-682157"/>
            <a:ext cx="3978100" cy="3303270"/>
            <a:chOff x="0" y="0"/>
            <a:chExt cx="616312" cy="5117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6312" cy="511763"/>
            </a:xfrm>
            <a:custGeom>
              <a:avLst/>
              <a:gdLst/>
              <a:ahLst/>
              <a:cxnLst/>
              <a:rect r="r" b="b" t="t" l="l"/>
              <a:pathLst>
                <a:path h="511763" w="616312">
                  <a:moveTo>
                    <a:pt x="77845" y="0"/>
                  </a:moveTo>
                  <a:lnTo>
                    <a:pt x="538466" y="0"/>
                  </a:lnTo>
                  <a:cubicBezTo>
                    <a:pt x="559112" y="0"/>
                    <a:pt x="578913" y="8202"/>
                    <a:pt x="593511" y="22800"/>
                  </a:cubicBezTo>
                  <a:cubicBezTo>
                    <a:pt x="608110" y="37399"/>
                    <a:pt x="616312" y="57200"/>
                    <a:pt x="616312" y="77845"/>
                  </a:cubicBezTo>
                  <a:lnTo>
                    <a:pt x="616312" y="433918"/>
                  </a:lnTo>
                  <a:cubicBezTo>
                    <a:pt x="616312" y="454563"/>
                    <a:pt x="608110" y="474364"/>
                    <a:pt x="593511" y="488963"/>
                  </a:cubicBezTo>
                  <a:cubicBezTo>
                    <a:pt x="578913" y="503561"/>
                    <a:pt x="559112" y="511763"/>
                    <a:pt x="538466" y="511763"/>
                  </a:cubicBezTo>
                  <a:lnTo>
                    <a:pt x="77845" y="511763"/>
                  </a:lnTo>
                  <a:cubicBezTo>
                    <a:pt x="34853" y="511763"/>
                    <a:pt x="0" y="476910"/>
                    <a:pt x="0" y="433918"/>
                  </a:cubicBezTo>
                  <a:lnTo>
                    <a:pt x="0" y="77845"/>
                  </a:lnTo>
                  <a:cubicBezTo>
                    <a:pt x="0" y="34853"/>
                    <a:pt x="34853" y="0"/>
                    <a:pt x="77845" y="0"/>
                  </a:cubicBezTo>
                  <a:close/>
                </a:path>
              </a:pathLst>
            </a:custGeom>
            <a:blipFill>
              <a:blip r:embed="rId5"/>
              <a:stretch>
                <a:fillRect l="-10683" t="0" r="-1409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322391" y="8707438"/>
            <a:ext cx="3978100" cy="3303270"/>
            <a:chOff x="0" y="0"/>
            <a:chExt cx="616312" cy="5117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6312" cy="511763"/>
            </a:xfrm>
            <a:custGeom>
              <a:avLst/>
              <a:gdLst/>
              <a:ahLst/>
              <a:cxnLst/>
              <a:rect r="r" b="b" t="t" l="l"/>
              <a:pathLst>
                <a:path h="511763" w="616312">
                  <a:moveTo>
                    <a:pt x="77845" y="0"/>
                  </a:moveTo>
                  <a:lnTo>
                    <a:pt x="538466" y="0"/>
                  </a:lnTo>
                  <a:cubicBezTo>
                    <a:pt x="559112" y="0"/>
                    <a:pt x="578913" y="8202"/>
                    <a:pt x="593511" y="22800"/>
                  </a:cubicBezTo>
                  <a:cubicBezTo>
                    <a:pt x="608110" y="37399"/>
                    <a:pt x="616312" y="57200"/>
                    <a:pt x="616312" y="77845"/>
                  </a:cubicBezTo>
                  <a:lnTo>
                    <a:pt x="616312" y="433918"/>
                  </a:lnTo>
                  <a:cubicBezTo>
                    <a:pt x="616312" y="454563"/>
                    <a:pt x="608110" y="474364"/>
                    <a:pt x="593511" y="488963"/>
                  </a:cubicBezTo>
                  <a:cubicBezTo>
                    <a:pt x="578913" y="503561"/>
                    <a:pt x="559112" y="511763"/>
                    <a:pt x="538466" y="511763"/>
                  </a:cubicBezTo>
                  <a:lnTo>
                    <a:pt x="77845" y="511763"/>
                  </a:lnTo>
                  <a:cubicBezTo>
                    <a:pt x="34853" y="511763"/>
                    <a:pt x="0" y="476910"/>
                    <a:pt x="0" y="433918"/>
                  </a:cubicBezTo>
                  <a:lnTo>
                    <a:pt x="0" y="77845"/>
                  </a:lnTo>
                  <a:cubicBezTo>
                    <a:pt x="0" y="34853"/>
                    <a:pt x="34853" y="0"/>
                    <a:pt x="77845" y="0"/>
                  </a:cubicBezTo>
                  <a:close/>
                </a:path>
              </a:pathLst>
            </a:custGeom>
            <a:blipFill>
              <a:blip r:embed="rId6"/>
              <a:stretch>
                <a:fillRect l="-12220" t="0" r="-1222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374902" y="1219200"/>
            <a:ext cx="6786498" cy="166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1"/>
              </a:lnSpc>
            </a:pPr>
            <a:r>
              <a:rPr lang="en-US" sz="12203" spc="-512">
                <a:solidFill>
                  <a:srgbClr val="FBF8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450" y="690542"/>
            <a:ext cx="301643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MB Hydraulikk 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77002" y="4570073"/>
            <a:ext cx="698229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MB HYDRAULIKK 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50488" y="9591707"/>
            <a:ext cx="301643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Brand Guidelines MBH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77002" y="5459995"/>
            <a:ext cx="6982298" cy="439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7"/>
              </a:lnSpc>
            </a:pPr>
            <a:r>
              <a:rPr lang="en-US" sz="2099" i="true">
                <a:solidFill>
                  <a:srgbClr val="FFFFFF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MB Hyd</a:t>
            </a:r>
            <a:r>
              <a:rPr lang="en-US" sz="2099" i="true">
                <a:solidFill>
                  <a:srgbClr val="FFFFFF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raulikk utvikler og produserer hydraulisk utstyr og systemløsninger for maritimt bruk. Frå Mjosundet leverer vi robuste lettvektsløsninger i sjøvannsbestandig aluminium og rustfritt stål til krevende miljø over hele verden. Med lokal kompetanse, høy egenproduksjon og tett kundedialog bygger vi løsninger for drift, levetid og enkelt vedlikehold.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865458" y="1754852"/>
            <a:ext cx="2716819" cy="267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1"/>
              </a:lnSpc>
              <a:spcBef>
                <a:spcPct val="0"/>
              </a:spcBef>
            </a:pPr>
            <a:r>
              <a:rPr lang="en-US" sz="14829" i="true" spc="-622">
                <a:solidFill>
                  <a:srgbClr val="DD2A27"/>
                </a:solidFill>
                <a:latin typeface="Migra Extra-Light Italics"/>
                <a:ea typeface="Migra Extra-Light Italics"/>
                <a:cs typeface="Migra Extra-Light Italics"/>
                <a:sym typeface="Migra Extra-Light Italics"/>
              </a:rPr>
              <a:t>oss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4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21583" y="323859"/>
            <a:ext cx="7223069" cy="4646255"/>
            <a:chOff x="0" y="0"/>
            <a:chExt cx="1902372" cy="1223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2372" cy="1223705"/>
            </a:xfrm>
            <a:custGeom>
              <a:avLst/>
              <a:gdLst/>
              <a:ahLst/>
              <a:cxnLst/>
              <a:rect r="r" b="b" t="t" l="l"/>
              <a:pathLst>
                <a:path h="1223705" w="1902372">
                  <a:moveTo>
                    <a:pt x="46089" y="0"/>
                  </a:moveTo>
                  <a:lnTo>
                    <a:pt x="1856283" y="0"/>
                  </a:lnTo>
                  <a:cubicBezTo>
                    <a:pt x="1881737" y="0"/>
                    <a:pt x="1902372" y="20635"/>
                    <a:pt x="1902372" y="46089"/>
                  </a:cubicBezTo>
                  <a:lnTo>
                    <a:pt x="1902372" y="1177616"/>
                  </a:lnTo>
                  <a:cubicBezTo>
                    <a:pt x="1902372" y="1203070"/>
                    <a:pt x="1881737" y="1223705"/>
                    <a:pt x="1856283" y="1223705"/>
                  </a:cubicBezTo>
                  <a:lnTo>
                    <a:pt x="46089" y="1223705"/>
                  </a:lnTo>
                  <a:cubicBezTo>
                    <a:pt x="20635" y="1223705"/>
                    <a:pt x="0" y="1203070"/>
                    <a:pt x="0" y="1177616"/>
                  </a:cubicBezTo>
                  <a:lnTo>
                    <a:pt x="0" y="46089"/>
                  </a:lnTo>
                  <a:cubicBezTo>
                    <a:pt x="0" y="20635"/>
                    <a:pt x="20635" y="0"/>
                    <a:pt x="46089" y="0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02372" cy="12713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53053" y="323859"/>
            <a:ext cx="7068148" cy="4646255"/>
            <a:chOff x="0" y="0"/>
            <a:chExt cx="1095041" cy="7198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5041" cy="719826"/>
            </a:xfrm>
            <a:custGeom>
              <a:avLst/>
              <a:gdLst/>
              <a:ahLst/>
              <a:cxnLst/>
              <a:rect r="r" b="b" t="t" l="l"/>
              <a:pathLst>
                <a:path h="719826" w="1095041">
                  <a:moveTo>
                    <a:pt x="43813" y="0"/>
                  </a:moveTo>
                  <a:lnTo>
                    <a:pt x="1051228" y="0"/>
                  </a:lnTo>
                  <a:cubicBezTo>
                    <a:pt x="1062848" y="0"/>
                    <a:pt x="1073992" y="4616"/>
                    <a:pt x="1082208" y="12833"/>
                  </a:cubicBezTo>
                  <a:cubicBezTo>
                    <a:pt x="1090425" y="21049"/>
                    <a:pt x="1095041" y="32193"/>
                    <a:pt x="1095041" y="43813"/>
                  </a:cubicBezTo>
                  <a:lnTo>
                    <a:pt x="1095041" y="676013"/>
                  </a:lnTo>
                  <a:cubicBezTo>
                    <a:pt x="1095041" y="687633"/>
                    <a:pt x="1090425" y="698777"/>
                    <a:pt x="1082208" y="706994"/>
                  </a:cubicBezTo>
                  <a:cubicBezTo>
                    <a:pt x="1073992" y="715210"/>
                    <a:pt x="1062848" y="719826"/>
                    <a:pt x="1051228" y="719826"/>
                  </a:cubicBezTo>
                  <a:lnTo>
                    <a:pt x="43813" y="719826"/>
                  </a:lnTo>
                  <a:cubicBezTo>
                    <a:pt x="32193" y="719826"/>
                    <a:pt x="21049" y="715210"/>
                    <a:pt x="12833" y="706994"/>
                  </a:cubicBezTo>
                  <a:cubicBezTo>
                    <a:pt x="4616" y="698777"/>
                    <a:pt x="0" y="687633"/>
                    <a:pt x="0" y="676013"/>
                  </a:cubicBezTo>
                  <a:lnTo>
                    <a:pt x="0" y="43813"/>
                  </a:lnTo>
                  <a:cubicBezTo>
                    <a:pt x="0" y="32193"/>
                    <a:pt x="4616" y="21049"/>
                    <a:pt x="12833" y="12833"/>
                  </a:cubicBezTo>
                  <a:cubicBezTo>
                    <a:pt x="21049" y="4616"/>
                    <a:pt x="32193" y="0"/>
                    <a:pt x="4381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105" r="0" b="-310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168665" y="5316887"/>
            <a:ext cx="5573983" cy="4646255"/>
            <a:chOff x="0" y="0"/>
            <a:chExt cx="863556" cy="7198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3556" cy="719826"/>
            </a:xfrm>
            <a:custGeom>
              <a:avLst/>
              <a:gdLst/>
              <a:ahLst/>
              <a:cxnLst/>
              <a:rect r="r" b="b" t="t" l="l"/>
              <a:pathLst>
                <a:path h="719826" w="863556">
                  <a:moveTo>
                    <a:pt x="55558" y="0"/>
                  </a:moveTo>
                  <a:lnTo>
                    <a:pt x="807998" y="0"/>
                  </a:lnTo>
                  <a:cubicBezTo>
                    <a:pt x="838682" y="0"/>
                    <a:pt x="863556" y="24874"/>
                    <a:pt x="863556" y="55558"/>
                  </a:cubicBezTo>
                  <a:lnTo>
                    <a:pt x="863556" y="664269"/>
                  </a:lnTo>
                  <a:cubicBezTo>
                    <a:pt x="863556" y="694952"/>
                    <a:pt x="838682" y="719826"/>
                    <a:pt x="807998" y="719826"/>
                  </a:cubicBezTo>
                  <a:lnTo>
                    <a:pt x="55558" y="719826"/>
                  </a:lnTo>
                  <a:cubicBezTo>
                    <a:pt x="24874" y="719826"/>
                    <a:pt x="0" y="694952"/>
                    <a:pt x="0" y="664269"/>
                  </a:cubicBezTo>
                  <a:lnTo>
                    <a:pt x="0" y="55558"/>
                  </a:lnTo>
                  <a:cubicBezTo>
                    <a:pt x="0" y="24874"/>
                    <a:pt x="24874" y="0"/>
                    <a:pt x="55558" y="0"/>
                  </a:cubicBezTo>
                  <a:close/>
                </a:path>
              </a:pathLst>
            </a:custGeom>
            <a:blipFill>
              <a:blip r:embed="rId3"/>
              <a:stretch>
                <a:fillRect l="-24807" t="-365" r="-23089" b="-1770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688824" y="3226410"/>
            <a:ext cx="5570476" cy="3846307"/>
            <a:chOff x="0" y="0"/>
            <a:chExt cx="1177151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7151" cy="812800"/>
            </a:xfrm>
            <a:custGeom>
              <a:avLst/>
              <a:gdLst/>
              <a:ahLst/>
              <a:cxnLst/>
              <a:rect r="r" b="b" t="t" l="l"/>
              <a:pathLst>
                <a:path h="812800" w="1177151">
                  <a:moveTo>
                    <a:pt x="55593" y="0"/>
                  </a:moveTo>
                  <a:lnTo>
                    <a:pt x="1121558" y="0"/>
                  </a:lnTo>
                  <a:cubicBezTo>
                    <a:pt x="1136302" y="0"/>
                    <a:pt x="1150442" y="5857"/>
                    <a:pt x="1160868" y="16283"/>
                  </a:cubicBezTo>
                  <a:cubicBezTo>
                    <a:pt x="1171294" y="26708"/>
                    <a:pt x="1177151" y="40848"/>
                    <a:pt x="1177151" y="55593"/>
                  </a:cubicBezTo>
                  <a:lnTo>
                    <a:pt x="1177151" y="757207"/>
                  </a:lnTo>
                  <a:cubicBezTo>
                    <a:pt x="1177151" y="771952"/>
                    <a:pt x="1171294" y="786092"/>
                    <a:pt x="1160868" y="796517"/>
                  </a:cubicBezTo>
                  <a:cubicBezTo>
                    <a:pt x="1150442" y="806943"/>
                    <a:pt x="1136302" y="812800"/>
                    <a:pt x="1121558" y="812800"/>
                  </a:cubicBezTo>
                  <a:lnTo>
                    <a:pt x="55593" y="812800"/>
                  </a:lnTo>
                  <a:cubicBezTo>
                    <a:pt x="40848" y="812800"/>
                    <a:pt x="26708" y="806943"/>
                    <a:pt x="16283" y="796517"/>
                  </a:cubicBezTo>
                  <a:cubicBezTo>
                    <a:pt x="5857" y="786092"/>
                    <a:pt x="0" y="771952"/>
                    <a:pt x="0" y="757207"/>
                  </a:cubicBezTo>
                  <a:lnTo>
                    <a:pt x="0" y="55593"/>
                  </a:lnTo>
                  <a:cubicBezTo>
                    <a:pt x="0" y="40848"/>
                    <a:pt x="5857" y="26708"/>
                    <a:pt x="16283" y="16283"/>
                  </a:cubicBezTo>
                  <a:cubicBezTo>
                    <a:pt x="26708" y="5857"/>
                    <a:pt x="40848" y="0"/>
                    <a:pt x="5559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507" r="0" b="-450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805322" y="-187770"/>
            <a:ext cx="3978100" cy="3303270"/>
            <a:chOff x="0" y="0"/>
            <a:chExt cx="616312" cy="5117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6312" cy="511763"/>
            </a:xfrm>
            <a:custGeom>
              <a:avLst/>
              <a:gdLst/>
              <a:ahLst/>
              <a:cxnLst/>
              <a:rect r="r" b="b" t="t" l="l"/>
              <a:pathLst>
                <a:path h="511763" w="616312">
                  <a:moveTo>
                    <a:pt x="77845" y="0"/>
                  </a:moveTo>
                  <a:lnTo>
                    <a:pt x="538466" y="0"/>
                  </a:lnTo>
                  <a:cubicBezTo>
                    <a:pt x="559112" y="0"/>
                    <a:pt x="578913" y="8202"/>
                    <a:pt x="593511" y="22800"/>
                  </a:cubicBezTo>
                  <a:cubicBezTo>
                    <a:pt x="608110" y="37399"/>
                    <a:pt x="616312" y="57200"/>
                    <a:pt x="616312" y="77845"/>
                  </a:cubicBezTo>
                  <a:lnTo>
                    <a:pt x="616312" y="433918"/>
                  </a:lnTo>
                  <a:cubicBezTo>
                    <a:pt x="616312" y="454563"/>
                    <a:pt x="608110" y="474364"/>
                    <a:pt x="593511" y="488963"/>
                  </a:cubicBezTo>
                  <a:cubicBezTo>
                    <a:pt x="578913" y="503561"/>
                    <a:pt x="559112" y="511763"/>
                    <a:pt x="538466" y="511763"/>
                  </a:cubicBezTo>
                  <a:lnTo>
                    <a:pt x="77845" y="511763"/>
                  </a:lnTo>
                  <a:cubicBezTo>
                    <a:pt x="34853" y="511763"/>
                    <a:pt x="0" y="476910"/>
                    <a:pt x="0" y="433918"/>
                  </a:cubicBezTo>
                  <a:lnTo>
                    <a:pt x="0" y="77845"/>
                  </a:lnTo>
                  <a:cubicBezTo>
                    <a:pt x="0" y="34853"/>
                    <a:pt x="34853" y="0"/>
                    <a:pt x="77845" y="0"/>
                  </a:cubicBezTo>
                  <a:close/>
                </a:path>
              </a:pathLst>
            </a:custGeom>
            <a:blipFill>
              <a:blip r:embed="rId5"/>
              <a:stretch>
                <a:fillRect l="-12155" t="0" r="-1215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644652" y="6395071"/>
            <a:ext cx="4482678" cy="3722253"/>
            <a:chOff x="0" y="0"/>
            <a:chExt cx="616312" cy="5117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6312" cy="511763"/>
            </a:xfrm>
            <a:custGeom>
              <a:avLst/>
              <a:gdLst/>
              <a:ahLst/>
              <a:cxnLst/>
              <a:rect r="r" b="b" t="t" l="l"/>
              <a:pathLst>
                <a:path h="511763" w="616312">
                  <a:moveTo>
                    <a:pt x="69083" y="0"/>
                  </a:moveTo>
                  <a:lnTo>
                    <a:pt x="547229" y="0"/>
                  </a:lnTo>
                  <a:cubicBezTo>
                    <a:pt x="585382" y="0"/>
                    <a:pt x="616312" y="30930"/>
                    <a:pt x="616312" y="69083"/>
                  </a:cubicBezTo>
                  <a:lnTo>
                    <a:pt x="616312" y="442680"/>
                  </a:lnTo>
                  <a:cubicBezTo>
                    <a:pt x="616312" y="461002"/>
                    <a:pt x="609033" y="478573"/>
                    <a:pt x="596078" y="491529"/>
                  </a:cubicBezTo>
                  <a:cubicBezTo>
                    <a:pt x="583122" y="504485"/>
                    <a:pt x="565551" y="511763"/>
                    <a:pt x="547229" y="511763"/>
                  </a:cubicBezTo>
                  <a:lnTo>
                    <a:pt x="69083" y="511763"/>
                  </a:lnTo>
                  <a:cubicBezTo>
                    <a:pt x="30930" y="511763"/>
                    <a:pt x="0" y="480833"/>
                    <a:pt x="0" y="442680"/>
                  </a:cubicBezTo>
                  <a:lnTo>
                    <a:pt x="0" y="69083"/>
                  </a:lnTo>
                  <a:cubicBezTo>
                    <a:pt x="0" y="30930"/>
                    <a:pt x="30930" y="0"/>
                    <a:pt x="6908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784" r="0" b="-1784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788971" y="4366175"/>
            <a:ext cx="396312" cy="346773"/>
            <a:chOff x="0" y="0"/>
            <a:chExt cx="8128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32223" y="113558"/>
                  </a:moveTo>
                  <a:cubicBezTo>
                    <a:pt x="-33680" y="222131"/>
                    <a:pt x="12749" y="327809"/>
                    <a:pt x="71096" y="383897"/>
                  </a:cubicBezTo>
                  <a:lnTo>
                    <a:pt x="412247" y="711200"/>
                  </a:lnTo>
                  <a:lnTo>
                    <a:pt x="746197" y="385067"/>
                  </a:lnTo>
                  <a:cubicBezTo>
                    <a:pt x="800465" y="324730"/>
                    <a:pt x="821266" y="260730"/>
                    <a:pt x="809713" y="189465"/>
                  </a:cubicBezTo>
                  <a:cubicBezTo>
                    <a:pt x="793755" y="90882"/>
                    <a:pt x="712517" y="14398"/>
                    <a:pt x="612162" y="3476"/>
                  </a:cubicBezTo>
                  <a:cubicBezTo>
                    <a:pt x="550612" y="-3151"/>
                    <a:pt x="491155" y="14267"/>
                    <a:pt x="444750" y="52829"/>
                  </a:cubicBezTo>
                  <a:cubicBezTo>
                    <a:pt x="432260" y="63204"/>
                    <a:pt x="421096" y="74804"/>
                    <a:pt x="411367" y="87411"/>
                  </a:cubicBezTo>
                  <a:cubicBezTo>
                    <a:pt x="399823" y="73056"/>
                    <a:pt x="386287" y="59925"/>
                    <a:pt x="370977" y="48288"/>
                  </a:cubicBezTo>
                  <a:cubicBezTo>
                    <a:pt x="317614" y="7733"/>
                    <a:pt x="249687" y="-8369"/>
                    <a:pt x="184440" y="4154"/>
                  </a:cubicBezTo>
                  <a:cubicBezTo>
                    <a:pt x="122643" y="16092"/>
                    <a:pt x="67173" y="55954"/>
                    <a:pt x="32223" y="113558"/>
                  </a:cubicBezTo>
                  <a:close/>
                </a:path>
              </a:pathLst>
            </a:custGeom>
            <a:solidFill>
              <a:srgbClr val="FEFA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175"/>
              <a:ext cx="660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1654365"/>
            <a:ext cx="6786498" cy="166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1"/>
              </a:lnSpc>
            </a:pPr>
            <a:r>
              <a:rPr lang="en-US" sz="12203" spc="-512">
                <a:solidFill>
                  <a:srgbClr val="FBF8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3450" y="690542"/>
            <a:ext cx="301643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MB Hydraulikk 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3450" y="4934616"/>
            <a:ext cx="698229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MB HYDRAULIKK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3450" y="9220200"/>
            <a:ext cx="301643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Brand Guidelines MBH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3450" y="5639117"/>
            <a:ext cx="6167340" cy="374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999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Å gjø</a:t>
            </a:r>
            <a:r>
              <a:rPr lang="en-US" sz="1999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 maritim drift lettere, tryggere og mer effektiv – med løsninger bygget for krevende forhold.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1999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 er fremtidsrettet, men ikke fluffy. Den sier noe om hvilken forskjell MBH ønsker å gjøre i verden, uten å bli for generell eller abstrakt.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357502" y="2549918"/>
            <a:ext cx="6786498" cy="267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1"/>
              </a:lnSpc>
              <a:spcBef>
                <a:spcPct val="0"/>
              </a:spcBef>
            </a:pPr>
            <a:r>
              <a:rPr lang="en-US" sz="14829" i="true" spc="-622">
                <a:solidFill>
                  <a:srgbClr val="FBF8EB"/>
                </a:solidFill>
                <a:latin typeface="Migra Extra-Light Italics"/>
                <a:ea typeface="Migra Extra-Light Italics"/>
                <a:cs typeface="Migra Extra-Light Italics"/>
                <a:sym typeface="Migra Extra-Light Italics"/>
              </a:rPr>
              <a:t>Vision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94966" y="1169511"/>
            <a:ext cx="4944401" cy="6739907"/>
            <a:chOff x="0" y="0"/>
            <a:chExt cx="766017" cy="10441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6017" cy="1044188"/>
            </a:xfrm>
            <a:custGeom>
              <a:avLst/>
              <a:gdLst/>
              <a:ahLst/>
              <a:cxnLst/>
              <a:rect r="r" b="b" t="t" l="l"/>
              <a:pathLst>
                <a:path h="1044188" w="766017">
                  <a:moveTo>
                    <a:pt x="62632" y="0"/>
                  </a:moveTo>
                  <a:lnTo>
                    <a:pt x="703385" y="0"/>
                  </a:lnTo>
                  <a:cubicBezTo>
                    <a:pt x="737976" y="0"/>
                    <a:pt x="766017" y="28041"/>
                    <a:pt x="766017" y="62632"/>
                  </a:cubicBezTo>
                  <a:lnTo>
                    <a:pt x="766017" y="981556"/>
                  </a:lnTo>
                  <a:cubicBezTo>
                    <a:pt x="766017" y="1016147"/>
                    <a:pt x="737976" y="1044188"/>
                    <a:pt x="703385" y="1044188"/>
                  </a:cubicBezTo>
                  <a:lnTo>
                    <a:pt x="62632" y="1044188"/>
                  </a:lnTo>
                  <a:cubicBezTo>
                    <a:pt x="28041" y="1044188"/>
                    <a:pt x="0" y="1016147"/>
                    <a:pt x="0" y="981556"/>
                  </a:cubicBezTo>
                  <a:lnTo>
                    <a:pt x="0" y="62632"/>
                  </a:lnTo>
                  <a:cubicBezTo>
                    <a:pt x="0" y="28041"/>
                    <a:pt x="28041" y="0"/>
                    <a:pt x="62632" y="0"/>
                  </a:cubicBezTo>
                  <a:close/>
                </a:path>
              </a:pathLst>
            </a:custGeom>
            <a:blipFill>
              <a:blip r:embed="rId2"/>
              <a:stretch>
                <a:fillRect l="-86459" t="0" r="-17825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216693" y="4738529"/>
            <a:ext cx="4042607" cy="123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9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Utvikl</a:t>
            </a:r>
            <a:r>
              <a:rPr lang="en-US" sz="19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er og produserer hydraulisk utstyr for krevende maritime miljø 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488799" y="6026309"/>
            <a:ext cx="4075589" cy="164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9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L</a:t>
            </a:r>
            <a:r>
              <a:rPr lang="en-US" sz="19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everer lettvektsløsninger med fokus på drift, levetid og vedlikehold 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12488799" y="5788184"/>
            <a:ext cx="4770501" cy="0"/>
          </a:xfrm>
          <a:prstGeom prst="line">
            <a:avLst/>
          </a:prstGeom>
          <a:ln cap="flat" w="9525">
            <a:solidFill>
              <a:srgbClr val="64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2488799" y="7590315"/>
            <a:ext cx="4770501" cy="0"/>
          </a:xfrm>
          <a:prstGeom prst="line">
            <a:avLst/>
          </a:prstGeom>
          <a:ln cap="flat" w="9525">
            <a:solidFill>
              <a:srgbClr val="64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016221" y="6432961"/>
            <a:ext cx="1243079" cy="1243079"/>
          </a:xfrm>
          <a:custGeom>
            <a:avLst/>
            <a:gdLst/>
            <a:ahLst/>
            <a:cxnLst/>
            <a:rect r="r" b="b" t="t" l="l"/>
            <a:pathLst>
              <a:path h="1243079" w="1243079">
                <a:moveTo>
                  <a:pt x="0" y="0"/>
                </a:moveTo>
                <a:lnTo>
                  <a:pt x="1243079" y="0"/>
                </a:lnTo>
                <a:lnTo>
                  <a:pt x="1243079" y="1243079"/>
                </a:lnTo>
                <a:lnTo>
                  <a:pt x="0" y="1243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41777" y="4607246"/>
            <a:ext cx="1072507" cy="1072507"/>
          </a:xfrm>
          <a:custGeom>
            <a:avLst/>
            <a:gdLst/>
            <a:ahLst/>
            <a:cxnLst/>
            <a:rect r="r" b="b" t="t" l="l"/>
            <a:pathLst>
              <a:path h="1072507" w="1072507">
                <a:moveTo>
                  <a:pt x="0" y="0"/>
                </a:moveTo>
                <a:lnTo>
                  <a:pt x="1072507" y="0"/>
                </a:lnTo>
                <a:lnTo>
                  <a:pt x="1072507" y="1072508"/>
                </a:lnTo>
                <a:lnTo>
                  <a:pt x="0" y="1072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41777" y="7590315"/>
            <a:ext cx="1366763" cy="1366763"/>
          </a:xfrm>
          <a:custGeom>
            <a:avLst/>
            <a:gdLst/>
            <a:ahLst/>
            <a:cxnLst/>
            <a:rect r="r" b="b" t="t" l="l"/>
            <a:pathLst>
              <a:path h="1366763" w="1366763">
                <a:moveTo>
                  <a:pt x="0" y="0"/>
                </a:moveTo>
                <a:lnTo>
                  <a:pt x="1366763" y="0"/>
                </a:lnTo>
                <a:lnTo>
                  <a:pt x="1366763" y="1366763"/>
                </a:lnTo>
                <a:lnTo>
                  <a:pt x="0" y="1366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3075104"/>
            <a:ext cx="8382085" cy="206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75"/>
              </a:lnSpc>
            </a:pPr>
            <a:r>
              <a:rPr lang="en-US" sz="15072" spc="-633">
                <a:solidFill>
                  <a:srgbClr val="1A607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Oppdr</a:t>
            </a:r>
            <a:r>
              <a:rPr lang="en-US" sz="15072" spc="-633">
                <a:solidFill>
                  <a:srgbClr val="FAF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450" y="690542"/>
            <a:ext cx="301643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MB Hyd</a:t>
            </a:r>
            <a:r>
              <a:rPr lang="en-US" b="true" sz="1700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raulikk 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3450" y="9220200"/>
            <a:ext cx="301643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Brand Guidelines MBH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88799" y="1074261"/>
            <a:ext cx="4770501" cy="374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9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MB Hydraulikk utvikler </a:t>
            </a:r>
            <a:r>
              <a:rPr lang="en-US" sz="19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og produserer hydraulisk utstyr og systemløsninger for maritimt bruk. Med lokal kompetanse, høy egenproduksjon og tett kundedialog leverer vi robuste løsninger i sjøvannsbestandig aluminium og rustfritt stål – utviklet for drift, levetid og enkelt vedlikehold.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569253" y="7733190"/>
            <a:ext cx="3690047" cy="164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9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Kombin</a:t>
            </a:r>
            <a:r>
              <a:rPr lang="en-US" sz="19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erer lokal kompetanse med leveranser til kunder over hele verden 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2002" y="2272302"/>
            <a:ext cx="1657350" cy="165735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5437" y="2272302"/>
            <a:ext cx="1657350" cy="165735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12473" y="2272302"/>
            <a:ext cx="1657350" cy="16573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80200" y="2272302"/>
            <a:ext cx="1657350" cy="16573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818224" y="3574952"/>
            <a:ext cx="0" cy="4479926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9213431" y="3574952"/>
            <a:ext cx="0" cy="4479926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3608638" y="3574952"/>
            <a:ext cx="0" cy="4479926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981279" y="2483875"/>
            <a:ext cx="1238796" cy="1238796"/>
          </a:xfrm>
          <a:custGeom>
            <a:avLst/>
            <a:gdLst/>
            <a:ahLst/>
            <a:cxnLst/>
            <a:rect r="r" b="b" t="t" l="l"/>
            <a:pathLst>
              <a:path h="1238796" w="1238796">
                <a:moveTo>
                  <a:pt x="0" y="0"/>
                </a:moveTo>
                <a:lnTo>
                  <a:pt x="1238796" y="0"/>
                </a:lnTo>
                <a:lnTo>
                  <a:pt x="1238796" y="1238795"/>
                </a:lnTo>
                <a:lnTo>
                  <a:pt x="0" y="1238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313787" y="2545220"/>
            <a:ext cx="1323633" cy="1323633"/>
          </a:xfrm>
          <a:custGeom>
            <a:avLst/>
            <a:gdLst/>
            <a:ahLst/>
            <a:cxnLst/>
            <a:rect r="r" b="b" t="t" l="l"/>
            <a:pathLst>
              <a:path h="1323633" w="1323633">
                <a:moveTo>
                  <a:pt x="0" y="0"/>
                </a:moveTo>
                <a:lnTo>
                  <a:pt x="1323633" y="0"/>
                </a:lnTo>
                <a:lnTo>
                  <a:pt x="1323633" y="1323633"/>
                </a:lnTo>
                <a:lnTo>
                  <a:pt x="0" y="13236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445351" y="2483875"/>
            <a:ext cx="1337522" cy="1337522"/>
          </a:xfrm>
          <a:custGeom>
            <a:avLst/>
            <a:gdLst/>
            <a:ahLst/>
            <a:cxnLst/>
            <a:rect r="r" b="b" t="t" l="l"/>
            <a:pathLst>
              <a:path h="1337522" w="1337522">
                <a:moveTo>
                  <a:pt x="0" y="0"/>
                </a:moveTo>
                <a:lnTo>
                  <a:pt x="1337522" y="0"/>
                </a:lnTo>
                <a:lnTo>
                  <a:pt x="1337522" y="1337522"/>
                </a:lnTo>
                <a:lnTo>
                  <a:pt x="0" y="1337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842125" y="2434512"/>
            <a:ext cx="1337522" cy="1337522"/>
          </a:xfrm>
          <a:custGeom>
            <a:avLst/>
            <a:gdLst/>
            <a:ahLst/>
            <a:cxnLst/>
            <a:rect r="r" b="b" t="t" l="l"/>
            <a:pathLst>
              <a:path h="1337522" w="1337522">
                <a:moveTo>
                  <a:pt x="0" y="0"/>
                </a:moveTo>
                <a:lnTo>
                  <a:pt x="1337522" y="0"/>
                </a:lnTo>
                <a:lnTo>
                  <a:pt x="1337522" y="1337522"/>
                </a:lnTo>
                <a:lnTo>
                  <a:pt x="0" y="13375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33450" y="690542"/>
            <a:ext cx="301643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MB Hydraulikk 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88384" y="726506"/>
            <a:ext cx="6905695" cy="1545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840"/>
              </a:lnSpc>
            </a:pPr>
            <a:r>
              <a:rPr lang="en-US" sz="11385" spc="-478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Kjerne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04220" y="385742"/>
            <a:ext cx="7587198" cy="218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77"/>
              </a:lnSpc>
              <a:spcBef>
                <a:spcPct val="0"/>
              </a:spcBef>
            </a:pPr>
            <a:r>
              <a:rPr lang="en-US" sz="12126" i="true" spc="-509">
                <a:solidFill>
                  <a:srgbClr val="FFFFFF"/>
                </a:solidFill>
                <a:latin typeface="Migra Extra-Light Italics"/>
                <a:ea typeface="Migra Extra-Light Italics"/>
                <a:cs typeface="Migra Extra-Light Italics"/>
                <a:sym typeface="Migra Extra-Light Italics"/>
              </a:rPr>
              <a:t>verdier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7878" y="4094145"/>
            <a:ext cx="290559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Faglig trygghet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2948" y="4802133"/>
            <a:ext cx="4404677" cy="4557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skal være en pa</a:t>
            </a: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rtner kundene kan stole på. Vi bygger tillit gjennom kompetanse, erfaring og presisjon – ikke gjennom store ord.</a:t>
            </a:r>
          </a:p>
          <a:p>
            <a:pPr algn="l">
              <a:lnSpc>
                <a:spcPts val="3024"/>
              </a:lnSpc>
            </a:pPr>
          </a:p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FFFFFF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Dette betyr i praksis:</a:t>
            </a:r>
          </a:p>
          <a:p>
            <a:pPr algn="l" marL="388620" indent="-194310" lvl="1">
              <a:lnSpc>
                <a:spcPts val="30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er konkrete og ærlige</a:t>
            </a:r>
          </a:p>
          <a:p>
            <a:pPr algn="l" marL="388620" indent="-194310" lvl="1">
              <a:lnSpc>
                <a:spcPts val="30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kjenner produktene og bruksområdene våre godt</a:t>
            </a:r>
          </a:p>
          <a:p>
            <a:pPr algn="l" marL="388620" indent="-194310" lvl="1">
              <a:lnSpc>
                <a:spcPts val="30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kommuniserer tydelig og med teknisk troverdighet</a:t>
            </a:r>
          </a:p>
          <a:p>
            <a:pPr algn="ctr">
              <a:lnSpc>
                <a:spcPts val="3024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733057" y="4094145"/>
            <a:ext cx="3270743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Kundedrevet utvikling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75294" y="4843908"/>
            <a:ext cx="3931830" cy="4970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 beste løsningen</a:t>
            </a: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lages tett på dem som faktisk skal bruke dem.</a:t>
            </a:r>
          </a:p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lytter, forstår driftshverdagen og utvikler løsninger som gir praktisk verdi.</a:t>
            </a:r>
          </a:p>
          <a:p>
            <a:pPr algn="l">
              <a:lnSpc>
                <a:spcPts val="3024"/>
              </a:lnSpc>
            </a:pPr>
          </a:p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FFFFFF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Dette betyr i praksis:</a:t>
            </a:r>
          </a:p>
          <a:p>
            <a:pPr algn="l" marL="388620" indent="-194310" lvl="1">
              <a:lnSpc>
                <a:spcPts val="30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starter med behov, ikke buzzord</a:t>
            </a:r>
          </a:p>
          <a:p>
            <a:pPr algn="l" marL="388620" indent="-194310" lvl="1">
              <a:lnSpc>
                <a:spcPts val="30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løser konkrete utfordringer</a:t>
            </a:r>
          </a:p>
          <a:p>
            <a:pPr algn="l" marL="388620" indent="-194310" lvl="1">
              <a:lnSpc>
                <a:spcPts val="30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forbedrer gjennom erfaring og dialog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518524" y="4094145"/>
            <a:ext cx="290559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Robust kvalitet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002788" y="4802133"/>
            <a:ext cx="4086429" cy="4938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utvikl</a:t>
            </a: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 løsninger som skal fungere i krevende maritime miljø over tid.</a:t>
            </a:r>
          </a:p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Kvalitet handler ikke bare om materialvalg, men om driftssikkerhet, styrke og vedlikehold.</a:t>
            </a:r>
          </a:p>
          <a:p>
            <a:pPr algn="l">
              <a:lnSpc>
                <a:spcPts val="3024"/>
              </a:lnSpc>
            </a:pPr>
          </a:p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FFFFFF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Dette betyr i praksis:</a:t>
            </a:r>
          </a:p>
          <a:p>
            <a:pPr algn="l" marL="388620" indent="-194310" lvl="1">
              <a:lnSpc>
                <a:spcPts val="30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tenker levetid og funksjon i alle ledd</a:t>
            </a:r>
          </a:p>
          <a:p>
            <a:pPr algn="l" marL="388620" indent="-194310" lvl="1">
              <a:lnSpc>
                <a:spcPts val="30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velger løsninger som tåler virkeligheten</a:t>
            </a:r>
          </a:p>
          <a:p>
            <a:pPr algn="l" marL="388620" indent="-194310" lvl="1">
              <a:lnSpc>
                <a:spcPts val="30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setter kvalitet foran pynt</a:t>
            </a:r>
          </a:p>
          <a:p>
            <a:pPr algn="l">
              <a:lnSpc>
                <a:spcPts val="3024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4213475" y="4094145"/>
            <a:ext cx="2905598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Lokal forankring, global rekkevidde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3794375" y="4887587"/>
            <a:ext cx="4270677" cy="531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er stolte</a:t>
            </a: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av hvor vi kommer fra – og bevisste på hvor produktene våre skal fungere. Vår lokale kompetanse er grunnlaget for leveranser til krevende maritime miljø over hele verden.</a:t>
            </a:r>
          </a:p>
          <a:p>
            <a:pPr algn="l">
              <a:lnSpc>
                <a:spcPts val="3024"/>
              </a:lnSpc>
            </a:pPr>
          </a:p>
          <a:p>
            <a:pPr algn="l">
              <a:lnSpc>
                <a:spcPts val="3024"/>
              </a:lnSpc>
            </a:pPr>
            <a:r>
              <a:rPr lang="en-US" b="true" sz="1800">
                <a:solidFill>
                  <a:srgbClr val="FFFFFF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Dette betyr i praksis:</a:t>
            </a:r>
          </a:p>
          <a:p>
            <a:pPr algn="l" marL="388620" indent="-194310" lvl="1">
              <a:lnSpc>
                <a:spcPts val="30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bygger på håndverk, kompetanse og erfaring fra kysten</a:t>
            </a:r>
          </a:p>
          <a:p>
            <a:pPr algn="l" marL="388620" indent="-194310" lvl="1">
              <a:lnSpc>
                <a:spcPts val="30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kombinerer nærhet med profesjonell leveranseevne</a:t>
            </a:r>
          </a:p>
          <a:p>
            <a:pPr algn="l" marL="388620" indent="-194310" lvl="1">
              <a:lnSpc>
                <a:spcPts val="3024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står trygt i det lokale og relevant i det globale</a:t>
            </a:r>
          </a:p>
          <a:p>
            <a:pPr algn="l">
              <a:lnSpc>
                <a:spcPts val="302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68468" y="5698104"/>
            <a:ext cx="2793053" cy="2383886"/>
            <a:chOff x="0" y="0"/>
            <a:chExt cx="677230" cy="578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7230" cy="578020"/>
            </a:xfrm>
            <a:custGeom>
              <a:avLst/>
              <a:gdLst/>
              <a:ahLst/>
              <a:cxnLst/>
              <a:rect r="r" b="b" t="t" l="l"/>
              <a:pathLst>
                <a:path h="578020" w="677230">
                  <a:moveTo>
                    <a:pt x="58209" y="0"/>
                  </a:moveTo>
                  <a:lnTo>
                    <a:pt x="619021" y="0"/>
                  </a:lnTo>
                  <a:cubicBezTo>
                    <a:pt x="634459" y="0"/>
                    <a:pt x="649265" y="6133"/>
                    <a:pt x="660181" y="17049"/>
                  </a:cubicBezTo>
                  <a:cubicBezTo>
                    <a:pt x="671097" y="27965"/>
                    <a:pt x="677230" y="42771"/>
                    <a:pt x="677230" y="58209"/>
                  </a:cubicBezTo>
                  <a:lnTo>
                    <a:pt x="677230" y="519811"/>
                  </a:lnTo>
                  <a:cubicBezTo>
                    <a:pt x="677230" y="535249"/>
                    <a:pt x="671097" y="550054"/>
                    <a:pt x="660181" y="560971"/>
                  </a:cubicBezTo>
                  <a:cubicBezTo>
                    <a:pt x="649265" y="571887"/>
                    <a:pt x="634459" y="578020"/>
                    <a:pt x="619021" y="578020"/>
                  </a:cubicBezTo>
                  <a:lnTo>
                    <a:pt x="58209" y="578020"/>
                  </a:lnTo>
                  <a:cubicBezTo>
                    <a:pt x="42771" y="578020"/>
                    <a:pt x="27965" y="571887"/>
                    <a:pt x="17049" y="560971"/>
                  </a:cubicBezTo>
                  <a:cubicBezTo>
                    <a:pt x="6133" y="550054"/>
                    <a:pt x="0" y="535249"/>
                    <a:pt x="0" y="519811"/>
                  </a:cubicBezTo>
                  <a:lnTo>
                    <a:pt x="0" y="58209"/>
                  </a:lnTo>
                  <a:cubicBezTo>
                    <a:pt x="0" y="42771"/>
                    <a:pt x="6133" y="27965"/>
                    <a:pt x="17049" y="17049"/>
                  </a:cubicBezTo>
                  <a:cubicBezTo>
                    <a:pt x="27965" y="6133"/>
                    <a:pt x="42771" y="0"/>
                    <a:pt x="58209" y="0"/>
                  </a:cubicBezTo>
                  <a:close/>
                </a:path>
              </a:pathLst>
            </a:custGeom>
            <a:solidFill>
              <a:srgbClr val="64191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77230" cy="635170"/>
            </a:xfrm>
            <a:prstGeom prst="rect">
              <a:avLst/>
            </a:prstGeom>
          </p:spPr>
          <p:txBody>
            <a:bodyPr anchor="ctr" rtlCol="false" tIns="50781" lIns="50781" bIns="50781" rIns="50781"/>
            <a:lstStyle/>
            <a:p>
              <a:pPr algn="ctr">
                <a:lnSpc>
                  <a:spcPts val="41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64207" y="3577679"/>
            <a:ext cx="2797313" cy="2326921"/>
            <a:chOff x="0" y="0"/>
            <a:chExt cx="1083788" cy="9015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3788" cy="901540"/>
            </a:xfrm>
            <a:custGeom>
              <a:avLst/>
              <a:gdLst/>
              <a:ahLst/>
              <a:cxnLst/>
              <a:rect r="r" b="b" t="t" l="l"/>
              <a:pathLst>
                <a:path h="901540" w="1083788">
                  <a:moveTo>
                    <a:pt x="58120" y="0"/>
                  </a:moveTo>
                  <a:lnTo>
                    <a:pt x="1025668" y="0"/>
                  </a:lnTo>
                  <a:cubicBezTo>
                    <a:pt x="1041082" y="0"/>
                    <a:pt x="1055865" y="6123"/>
                    <a:pt x="1066765" y="17023"/>
                  </a:cubicBezTo>
                  <a:cubicBezTo>
                    <a:pt x="1077665" y="27923"/>
                    <a:pt x="1083788" y="42706"/>
                    <a:pt x="1083788" y="58120"/>
                  </a:cubicBezTo>
                  <a:lnTo>
                    <a:pt x="1083788" y="843420"/>
                  </a:lnTo>
                  <a:cubicBezTo>
                    <a:pt x="1083788" y="858834"/>
                    <a:pt x="1077665" y="873617"/>
                    <a:pt x="1066765" y="884517"/>
                  </a:cubicBezTo>
                  <a:cubicBezTo>
                    <a:pt x="1055865" y="895416"/>
                    <a:pt x="1041082" y="901540"/>
                    <a:pt x="1025668" y="901540"/>
                  </a:cubicBezTo>
                  <a:lnTo>
                    <a:pt x="58120" y="901540"/>
                  </a:lnTo>
                  <a:cubicBezTo>
                    <a:pt x="42706" y="901540"/>
                    <a:pt x="27923" y="895416"/>
                    <a:pt x="17023" y="884517"/>
                  </a:cubicBezTo>
                  <a:cubicBezTo>
                    <a:pt x="6123" y="873617"/>
                    <a:pt x="0" y="858834"/>
                    <a:pt x="0" y="843420"/>
                  </a:cubicBezTo>
                  <a:lnTo>
                    <a:pt x="0" y="58120"/>
                  </a:lnTo>
                  <a:cubicBezTo>
                    <a:pt x="0" y="42706"/>
                    <a:pt x="6123" y="27923"/>
                    <a:pt x="17023" y="17023"/>
                  </a:cubicBezTo>
                  <a:cubicBezTo>
                    <a:pt x="27923" y="6123"/>
                    <a:pt x="42706" y="0"/>
                    <a:pt x="58120" y="0"/>
                  </a:cubicBezTo>
                  <a:close/>
                </a:path>
              </a:pathLst>
            </a:custGeom>
            <a:blipFill>
              <a:blip r:embed="rId2"/>
              <a:stretch>
                <a:fillRect l="-12331" t="0" r="-43758" b="-2520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830438" y="5698072"/>
            <a:ext cx="2808671" cy="2383917"/>
            <a:chOff x="0" y="0"/>
            <a:chExt cx="680974" cy="5781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0974" cy="578104"/>
            </a:xfrm>
            <a:custGeom>
              <a:avLst/>
              <a:gdLst/>
              <a:ahLst/>
              <a:cxnLst/>
              <a:rect r="r" b="b" t="t" l="l"/>
              <a:pathLst>
                <a:path h="578104" w="680974">
                  <a:moveTo>
                    <a:pt x="680974" y="57885"/>
                  </a:moveTo>
                  <a:lnTo>
                    <a:pt x="680974" y="520219"/>
                  </a:lnTo>
                  <a:cubicBezTo>
                    <a:pt x="680974" y="535571"/>
                    <a:pt x="674875" y="550294"/>
                    <a:pt x="664020" y="561150"/>
                  </a:cubicBezTo>
                  <a:cubicBezTo>
                    <a:pt x="653164" y="572005"/>
                    <a:pt x="638441" y="578104"/>
                    <a:pt x="623089" y="578104"/>
                  </a:cubicBezTo>
                  <a:lnTo>
                    <a:pt x="57885" y="578104"/>
                  </a:lnTo>
                  <a:cubicBezTo>
                    <a:pt x="42533" y="578104"/>
                    <a:pt x="27810" y="572005"/>
                    <a:pt x="16954" y="561150"/>
                  </a:cubicBezTo>
                  <a:cubicBezTo>
                    <a:pt x="6099" y="550294"/>
                    <a:pt x="0" y="535571"/>
                    <a:pt x="0" y="520219"/>
                  </a:cubicBezTo>
                  <a:lnTo>
                    <a:pt x="0" y="57885"/>
                  </a:lnTo>
                  <a:cubicBezTo>
                    <a:pt x="0" y="42533"/>
                    <a:pt x="6099" y="27810"/>
                    <a:pt x="16954" y="16954"/>
                  </a:cubicBezTo>
                  <a:cubicBezTo>
                    <a:pt x="27810" y="6099"/>
                    <a:pt x="42533" y="0"/>
                    <a:pt x="57885" y="0"/>
                  </a:cubicBezTo>
                  <a:lnTo>
                    <a:pt x="623089" y="0"/>
                  </a:lnTo>
                  <a:cubicBezTo>
                    <a:pt x="638441" y="0"/>
                    <a:pt x="653164" y="6099"/>
                    <a:pt x="664020" y="16954"/>
                  </a:cubicBezTo>
                  <a:cubicBezTo>
                    <a:pt x="674875" y="27810"/>
                    <a:pt x="680974" y="42533"/>
                    <a:pt x="680974" y="57885"/>
                  </a:cubicBezTo>
                  <a:close/>
                </a:path>
              </a:pathLst>
            </a:custGeom>
            <a:solidFill>
              <a:srgbClr val="FAF6F1"/>
            </a:solidFill>
            <a:ln w="9525" cap="rnd">
              <a:solidFill>
                <a:srgbClr val="0A2E35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680974" cy="635254"/>
            </a:xfrm>
            <a:prstGeom prst="rect">
              <a:avLst/>
            </a:prstGeom>
          </p:spPr>
          <p:txBody>
            <a:bodyPr anchor="ctr" rtlCol="false" tIns="50781" lIns="50781" bIns="50781" rIns="50781"/>
            <a:lstStyle/>
            <a:p>
              <a:pPr algn="ctr">
                <a:lnSpc>
                  <a:spcPts val="419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47891" y="5698104"/>
            <a:ext cx="2784106" cy="2383886"/>
            <a:chOff x="0" y="0"/>
            <a:chExt cx="675061" cy="5780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5061" cy="578020"/>
            </a:xfrm>
            <a:custGeom>
              <a:avLst/>
              <a:gdLst/>
              <a:ahLst/>
              <a:cxnLst/>
              <a:rect r="r" b="b" t="t" l="l"/>
              <a:pathLst>
                <a:path h="578020" w="675061">
                  <a:moveTo>
                    <a:pt x="58396" y="0"/>
                  </a:moveTo>
                  <a:lnTo>
                    <a:pt x="616665" y="0"/>
                  </a:lnTo>
                  <a:cubicBezTo>
                    <a:pt x="632152" y="0"/>
                    <a:pt x="647006" y="6152"/>
                    <a:pt x="657957" y="17104"/>
                  </a:cubicBezTo>
                  <a:cubicBezTo>
                    <a:pt x="668908" y="28055"/>
                    <a:pt x="675061" y="42908"/>
                    <a:pt x="675061" y="58396"/>
                  </a:cubicBezTo>
                  <a:lnTo>
                    <a:pt x="675061" y="519624"/>
                  </a:lnTo>
                  <a:cubicBezTo>
                    <a:pt x="675061" y="535111"/>
                    <a:pt x="668908" y="549964"/>
                    <a:pt x="657957" y="560916"/>
                  </a:cubicBezTo>
                  <a:cubicBezTo>
                    <a:pt x="647006" y="571867"/>
                    <a:pt x="632152" y="578020"/>
                    <a:pt x="616665" y="578020"/>
                  </a:cubicBezTo>
                  <a:lnTo>
                    <a:pt x="58396" y="578020"/>
                  </a:lnTo>
                  <a:cubicBezTo>
                    <a:pt x="42908" y="578020"/>
                    <a:pt x="28055" y="571867"/>
                    <a:pt x="17104" y="560916"/>
                  </a:cubicBezTo>
                  <a:cubicBezTo>
                    <a:pt x="6152" y="549964"/>
                    <a:pt x="0" y="535111"/>
                    <a:pt x="0" y="519624"/>
                  </a:cubicBezTo>
                  <a:lnTo>
                    <a:pt x="0" y="58396"/>
                  </a:lnTo>
                  <a:cubicBezTo>
                    <a:pt x="0" y="42908"/>
                    <a:pt x="6152" y="28055"/>
                    <a:pt x="17104" y="17104"/>
                  </a:cubicBezTo>
                  <a:cubicBezTo>
                    <a:pt x="28055" y="6152"/>
                    <a:pt x="42908" y="0"/>
                    <a:pt x="58396" y="0"/>
                  </a:cubicBezTo>
                  <a:close/>
                </a:path>
              </a:pathLst>
            </a:custGeom>
            <a:solidFill>
              <a:srgbClr val="909495"/>
            </a:solidFill>
            <a:ln w="9525" cap="rnd">
              <a:solidFill>
                <a:srgbClr val="B25D3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75061" cy="635170"/>
            </a:xfrm>
            <a:prstGeom prst="rect">
              <a:avLst/>
            </a:prstGeom>
          </p:spPr>
          <p:txBody>
            <a:bodyPr anchor="ctr" rtlCol="false" tIns="50781" lIns="50781" bIns="50781" rIns="50781"/>
            <a:lstStyle/>
            <a:p>
              <a:pPr algn="ctr">
                <a:lnSpc>
                  <a:spcPts val="419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03240" y="6425073"/>
            <a:ext cx="1116539" cy="929917"/>
            <a:chOff x="0" y="0"/>
            <a:chExt cx="270727" cy="2254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0727" cy="225476"/>
            </a:xfrm>
            <a:custGeom>
              <a:avLst/>
              <a:gdLst/>
              <a:ahLst/>
              <a:cxnLst/>
              <a:rect r="r" b="b" t="t" l="l"/>
              <a:pathLst>
                <a:path h="225476" w="270727">
                  <a:moveTo>
                    <a:pt x="112738" y="0"/>
                  </a:moveTo>
                  <a:lnTo>
                    <a:pt x="157989" y="0"/>
                  </a:lnTo>
                  <a:cubicBezTo>
                    <a:pt x="187889" y="0"/>
                    <a:pt x="216564" y="11878"/>
                    <a:pt x="237706" y="33020"/>
                  </a:cubicBezTo>
                  <a:cubicBezTo>
                    <a:pt x="258849" y="54163"/>
                    <a:pt x="270727" y="82838"/>
                    <a:pt x="270727" y="112738"/>
                  </a:cubicBezTo>
                  <a:lnTo>
                    <a:pt x="270727" y="112738"/>
                  </a:lnTo>
                  <a:cubicBezTo>
                    <a:pt x="270727" y="142638"/>
                    <a:pt x="258849" y="171314"/>
                    <a:pt x="237706" y="192456"/>
                  </a:cubicBezTo>
                  <a:cubicBezTo>
                    <a:pt x="216564" y="213599"/>
                    <a:pt x="187889" y="225476"/>
                    <a:pt x="157989" y="225476"/>
                  </a:cubicBezTo>
                  <a:lnTo>
                    <a:pt x="112738" y="225476"/>
                  </a:lnTo>
                  <a:cubicBezTo>
                    <a:pt x="82838" y="225476"/>
                    <a:pt x="54163" y="213599"/>
                    <a:pt x="33020" y="192456"/>
                  </a:cubicBezTo>
                  <a:cubicBezTo>
                    <a:pt x="11878" y="171314"/>
                    <a:pt x="0" y="142638"/>
                    <a:pt x="0" y="112738"/>
                  </a:cubicBezTo>
                  <a:lnTo>
                    <a:pt x="0" y="112738"/>
                  </a:lnTo>
                  <a:cubicBezTo>
                    <a:pt x="0" y="82838"/>
                    <a:pt x="11878" y="54163"/>
                    <a:pt x="33020" y="33020"/>
                  </a:cubicBezTo>
                  <a:cubicBezTo>
                    <a:pt x="54163" y="11878"/>
                    <a:pt x="82838" y="0"/>
                    <a:pt x="112738" y="0"/>
                  </a:cubicBezTo>
                  <a:close/>
                </a:path>
              </a:pathLst>
            </a:custGeom>
            <a:solidFill>
              <a:srgbClr val="B1B5B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70727" cy="282626"/>
            </a:xfrm>
            <a:prstGeom prst="rect">
              <a:avLst/>
            </a:prstGeom>
          </p:spPr>
          <p:txBody>
            <a:bodyPr anchor="ctr" rtlCol="false" tIns="50781" lIns="50781" bIns="50781" rIns="50781"/>
            <a:lstStyle/>
            <a:p>
              <a:pPr algn="ctr">
                <a:lnSpc>
                  <a:spcPts val="419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680547" y="6425064"/>
            <a:ext cx="1116539" cy="929926"/>
            <a:chOff x="0" y="0"/>
            <a:chExt cx="270764" cy="2255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0764" cy="225552"/>
            </a:xfrm>
            <a:custGeom>
              <a:avLst/>
              <a:gdLst/>
              <a:ahLst/>
              <a:cxnLst/>
              <a:rect r="r" b="b" t="t" l="l"/>
              <a:pathLst>
                <a:path h="225552" w="270764">
                  <a:moveTo>
                    <a:pt x="270764" y="112776"/>
                  </a:moveTo>
                  <a:lnTo>
                    <a:pt x="270764" y="112776"/>
                  </a:lnTo>
                  <a:cubicBezTo>
                    <a:pt x="270764" y="142686"/>
                    <a:pt x="258882" y="171371"/>
                    <a:pt x="237733" y="192521"/>
                  </a:cubicBezTo>
                  <a:cubicBezTo>
                    <a:pt x="216583" y="213670"/>
                    <a:pt x="187898" y="225552"/>
                    <a:pt x="157988" y="225552"/>
                  </a:cubicBezTo>
                  <a:lnTo>
                    <a:pt x="112776" y="225552"/>
                  </a:lnTo>
                  <a:cubicBezTo>
                    <a:pt x="82866" y="225552"/>
                    <a:pt x="54181" y="213670"/>
                    <a:pt x="33031" y="192521"/>
                  </a:cubicBezTo>
                  <a:cubicBezTo>
                    <a:pt x="11882" y="171371"/>
                    <a:pt x="0" y="142686"/>
                    <a:pt x="0" y="112776"/>
                  </a:cubicBezTo>
                  <a:lnTo>
                    <a:pt x="0" y="112776"/>
                  </a:lnTo>
                  <a:cubicBezTo>
                    <a:pt x="0" y="82866"/>
                    <a:pt x="11882" y="54181"/>
                    <a:pt x="33031" y="33031"/>
                  </a:cubicBezTo>
                  <a:cubicBezTo>
                    <a:pt x="54181" y="11882"/>
                    <a:pt x="82866" y="0"/>
                    <a:pt x="112776" y="0"/>
                  </a:cubicBezTo>
                  <a:lnTo>
                    <a:pt x="157988" y="0"/>
                  </a:lnTo>
                  <a:cubicBezTo>
                    <a:pt x="220272" y="0"/>
                    <a:pt x="270764" y="50492"/>
                    <a:pt x="270764" y="112776"/>
                  </a:cubicBezTo>
                  <a:close/>
                </a:path>
              </a:pathLst>
            </a:custGeom>
            <a:solidFill>
              <a:srgbClr val="EDE8E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70764" cy="282702"/>
            </a:xfrm>
            <a:prstGeom prst="rect">
              <a:avLst/>
            </a:prstGeom>
          </p:spPr>
          <p:txBody>
            <a:bodyPr anchor="ctr" rtlCol="false" tIns="50781" lIns="50781" bIns="50781" rIns="50781"/>
            <a:lstStyle/>
            <a:p>
              <a:pPr algn="ctr">
                <a:lnSpc>
                  <a:spcPts val="4198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090916" y="6425073"/>
            <a:ext cx="1116539" cy="929917"/>
            <a:chOff x="0" y="0"/>
            <a:chExt cx="270727" cy="2254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0727" cy="225476"/>
            </a:xfrm>
            <a:custGeom>
              <a:avLst/>
              <a:gdLst/>
              <a:ahLst/>
              <a:cxnLst/>
              <a:rect r="r" b="b" t="t" l="l"/>
              <a:pathLst>
                <a:path h="225476" w="270727">
                  <a:moveTo>
                    <a:pt x="112738" y="0"/>
                  </a:moveTo>
                  <a:lnTo>
                    <a:pt x="157989" y="0"/>
                  </a:lnTo>
                  <a:cubicBezTo>
                    <a:pt x="187889" y="0"/>
                    <a:pt x="216564" y="11878"/>
                    <a:pt x="237706" y="33020"/>
                  </a:cubicBezTo>
                  <a:cubicBezTo>
                    <a:pt x="258849" y="54163"/>
                    <a:pt x="270727" y="82838"/>
                    <a:pt x="270727" y="112738"/>
                  </a:cubicBezTo>
                  <a:lnTo>
                    <a:pt x="270727" y="112738"/>
                  </a:lnTo>
                  <a:cubicBezTo>
                    <a:pt x="270727" y="142638"/>
                    <a:pt x="258849" y="171314"/>
                    <a:pt x="237706" y="192456"/>
                  </a:cubicBezTo>
                  <a:cubicBezTo>
                    <a:pt x="216564" y="213599"/>
                    <a:pt x="187889" y="225476"/>
                    <a:pt x="157989" y="225476"/>
                  </a:cubicBezTo>
                  <a:lnTo>
                    <a:pt x="112738" y="225476"/>
                  </a:lnTo>
                  <a:cubicBezTo>
                    <a:pt x="82838" y="225476"/>
                    <a:pt x="54163" y="213599"/>
                    <a:pt x="33020" y="192456"/>
                  </a:cubicBezTo>
                  <a:cubicBezTo>
                    <a:pt x="11878" y="171314"/>
                    <a:pt x="0" y="142638"/>
                    <a:pt x="0" y="112738"/>
                  </a:cubicBezTo>
                  <a:lnTo>
                    <a:pt x="0" y="112738"/>
                  </a:lnTo>
                  <a:cubicBezTo>
                    <a:pt x="0" y="82838"/>
                    <a:pt x="11878" y="54163"/>
                    <a:pt x="33020" y="33020"/>
                  </a:cubicBezTo>
                  <a:cubicBezTo>
                    <a:pt x="54163" y="11878"/>
                    <a:pt x="82838" y="0"/>
                    <a:pt x="112738" y="0"/>
                  </a:cubicBezTo>
                  <a:close/>
                </a:path>
              </a:pathLst>
            </a:custGeom>
            <a:solidFill>
              <a:srgbClr val="8C2D2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70727" cy="282626"/>
            </a:xfrm>
            <a:prstGeom prst="rect">
              <a:avLst/>
            </a:prstGeom>
          </p:spPr>
          <p:txBody>
            <a:bodyPr anchor="ctr" rtlCol="false" tIns="50781" lIns="50781" bIns="50781" rIns="50781"/>
            <a:lstStyle/>
            <a:p>
              <a:pPr algn="ctr">
                <a:lnSpc>
                  <a:spcPts val="419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468915" y="5698104"/>
            <a:ext cx="2802851" cy="2383886"/>
            <a:chOff x="0" y="0"/>
            <a:chExt cx="679606" cy="5780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9606" cy="578020"/>
            </a:xfrm>
            <a:custGeom>
              <a:avLst/>
              <a:gdLst/>
              <a:ahLst/>
              <a:cxnLst/>
              <a:rect r="r" b="b" t="t" l="l"/>
              <a:pathLst>
                <a:path h="578020" w="679606">
                  <a:moveTo>
                    <a:pt x="58005" y="0"/>
                  </a:moveTo>
                  <a:lnTo>
                    <a:pt x="621601" y="0"/>
                  </a:lnTo>
                  <a:cubicBezTo>
                    <a:pt x="653636" y="0"/>
                    <a:pt x="679606" y="25970"/>
                    <a:pt x="679606" y="58005"/>
                  </a:cubicBezTo>
                  <a:lnTo>
                    <a:pt x="679606" y="520014"/>
                  </a:lnTo>
                  <a:cubicBezTo>
                    <a:pt x="679606" y="552050"/>
                    <a:pt x="653636" y="578020"/>
                    <a:pt x="621601" y="578020"/>
                  </a:cubicBezTo>
                  <a:lnTo>
                    <a:pt x="58005" y="578020"/>
                  </a:lnTo>
                  <a:cubicBezTo>
                    <a:pt x="25970" y="578020"/>
                    <a:pt x="0" y="552050"/>
                    <a:pt x="0" y="520014"/>
                  </a:cubicBezTo>
                  <a:lnTo>
                    <a:pt x="0" y="58005"/>
                  </a:lnTo>
                  <a:cubicBezTo>
                    <a:pt x="0" y="25970"/>
                    <a:pt x="25970" y="0"/>
                    <a:pt x="58005" y="0"/>
                  </a:cubicBezTo>
                  <a:close/>
                </a:path>
              </a:pathLst>
            </a:custGeom>
            <a:solidFill>
              <a:srgbClr val="10464E"/>
            </a:solidFill>
            <a:ln w="9525" cap="rnd">
              <a:solidFill>
                <a:srgbClr val="A84F2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79606" cy="635170"/>
            </a:xfrm>
            <a:prstGeom prst="rect">
              <a:avLst/>
            </a:prstGeom>
          </p:spPr>
          <p:txBody>
            <a:bodyPr anchor="ctr" rtlCol="false" tIns="50781" lIns="50781" bIns="50781" rIns="50781"/>
            <a:lstStyle/>
            <a:p>
              <a:pPr algn="ctr">
                <a:lnSpc>
                  <a:spcPts val="4198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304203" y="6425064"/>
            <a:ext cx="1116539" cy="929917"/>
            <a:chOff x="0" y="0"/>
            <a:chExt cx="270727" cy="2254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0727" cy="225476"/>
            </a:xfrm>
            <a:custGeom>
              <a:avLst/>
              <a:gdLst/>
              <a:ahLst/>
              <a:cxnLst/>
              <a:rect r="r" b="b" t="t" l="l"/>
              <a:pathLst>
                <a:path h="225476" w="270727">
                  <a:moveTo>
                    <a:pt x="104008" y="0"/>
                  </a:moveTo>
                  <a:lnTo>
                    <a:pt x="166719" y="0"/>
                  </a:lnTo>
                  <a:cubicBezTo>
                    <a:pt x="194304" y="0"/>
                    <a:pt x="220758" y="10958"/>
                    <a:pt x="240264" y="30463"/>
                  </a:cubicBezTo>
                  <a:cubicBezTo>
                    <a:pt x="259769" y="49968"/>
                    <a:pt x="270727" y="76423"/>
                    <a:pt x="270727" y="104008"/>
                  </a:cubicBezTo>
                  <a:lnTo>
                    <a:pt x="270727" y="121469"/>
                  </a:lnTo>
                  <a:cubicBezTo>
                    <a:pt x="270727" y="149053"/>
                    <a:pt x="259769" y="175508"/>
                    <a:pt x="240264" y="195013"/>
                  </a:cubicBezTo>
                  <a:cubicBezTo>
                    <a:pt x="220758" y="214519"/>
                    <a:pt x="194304" y="225476"/>
                    <a:pt x="166719" y="225476"/>
                  </a:cubicBezTo>
                  <a:lnTo>
                    <a:pt x="104008" y="225476"/>
                  </a:lnTo>
                  <a:cubicBezTo>
                    <a:pt x="76423" y="225476"/>
                    <a:pt x="49968" y="214519"/>
                    <a:pt x="30463" y="195013"/>
                  </a:cubicBezTo>
                  <a:cubicBezTo>
                    <a:pt x="10958" y="175508"/>
                    <a:pt x="0" y="149053"/>
                    <a:pt x="0" y="121469"/>
                  </a:cubicBezTo>
                  <a:lnTo>
                    <a:pt x="0" y="104008"/>
                  </a:lnTo>
                  <a:cubicBezTo>
                    <a:pt x="0" y="76423"/>
                    <a:pt x="10958" y="49968"/>
                    <a:pt x="30463" y="30463"/>
                  </a:cubicBezTo>
                  <a:cubicBezTo>
                    <a:pt x="49968" y="10958"/>
                    <a:pt x="76423" y="0"/>
                    <a:pt x="104008" y="0"/>
                  </a:cubicBezTo>
                  <a:close/>
                </a:path>
              </a:pathLst>
            </a:custGeom>
            <a:solidFill>
              <a:srgbClr val="30666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270727" cy="282626"/>
            </a:xfrm>
            <a:prstGeom prst="rect">
              <a:avLst/>
            </a:prstGeom>
          </p:spPr>
          <p:txBody>
            <a:bodyPr anchor="ctr" rtlCol="false" tIns="50781" lIns="50781" bIns="50781" rIns="50781"/>
            <a:lstStyle/>
            <a:p>
              <a:pPr algn="ctr">
                <a:lnSpc>
                  <a:spcPts val="419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830438" y="3577679"/>
            <a:ext cx="2816758" cy="2326921"/>
            <a:chOff x="0" y="0"/>
            <a:chExt cx="1091322" cy="9015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1322" cy="901540"/>
            </a:xfrm>
            <a:custGeom>
              <a:avLst/>
              <a:gdLst/>
              <a:ahLst/>
              <a:cxnLst/>
              <a:rect r="r" b="b" t="t" l="l"/>
              <a:pathLst>
                <a:path h="901540" w="1091322">
                  <a:moveTo>
                    <a:pt x="57719" y="0"/>
                  </a:moveTo>
                  <a:lnTo>
                    <a:pt x="1033603" y="0"/>
                  </a:lnTo>
                  <a:cubicBezTo>
                    <a:pt x="1048911" y="0"/>
                    <a:pt x="1063592" y="6081"/>
                    <a:pt x="1074416" y="16905"/>
                  </a:cubicBezTo>
                  <a:cubicBezTo>
                    <a:pt x="1085240" y="27730"/>
                    <a:pt x="1091322" y="42411"/>
                    <a:pt x="1091322" y="57719"/>
                  </a:cubicBezTo>
                  <a:lnTo>
                    <a:pt x="1091322" y="843821"/>
                  </a:lnTo>
                  <a:cubicBezTo>
                    <a:pt x="1091322" y="875698"/>
                    <a:pt x="1065480" y="901540"/>
                    <a:pt x="1033603" y="901540"/>
                  </a:cubicBezTo>
                  <a:lnTo>
                    <a:pt x="57719" y="901540"/>
                  </a:lnTo>
                  <a:cubicBezTo>
                    <a:pt x="42411" y="901540"/>
                    <a:pt x="27730" y="895459"/>
                    <a:pt x="16905" y="884634"/>
                  </a:cubicBezTo>
                  <a:cubicBezTo>
                    <a:pt x="6081" y="873810"/>
                    <a:pt x="0" y="859129"/>
                    <a:pt x="0" y="843821"/>
                  </a:cubicBezTo>
                  <a:lnTo>
                    <a:pt x="0" y="57719"/>
                  </a:lnTo>
                  <a:cubicBezTo>
                    <a:pt x="0" y="25842"/>
                    <a:pt x="25842" y="0"/>
                    <a:pt x="57719" y="0"/>
                  </a:cubicBezTo>
                  <a:close/>
                </a:path>
              </a:pathLst>
            </a:custGeom>
            <a:blipFill>
              <a:blip r:embed="rId3"/>
              <a:stretch>
                <a:fillRect l="-42587" t="-48923" r="-46380" b="-22429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047891" y="3577679"/>
            <a:ext cx="2782547" cy="2326921"/>
            <a:chOff x="0" y="0"/>
            <a:chExt cx="1078067" cy="9015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8067" cy="901540"/>
            </a:xfrm>
            <a:custGeom>
              <a:avLst/>
              <a:gdLst/>
              <a:ahLst/>
              <a:cxnLst/>
              <a:rect r="r" b="b" t="t" l="l"/>
              <a:pathLst>
                <a:path h="901540" w="1078067">
                  <a:moveTo>
                    <a:pt x="58429" y="0"/>
                  </a:moveTo>
                  <a:lnTo>
                    <a:pt x="1019638" y="0"/>
                  </a:lnTo>
                  <a:cubicBezTo>
                    <a:pt x="1051908" y="0"/>
                    <a:pt x="1078067" y="26159"/>
                    <a:pt x="1078067" y="58429"/>
                  </a:cubicBezTo>
                  <a:lnTo>
                    <a:pt x="1078067" y="843111"/>
                  </a:lnTo>
                  <a:cubicBezTo>
                    <a:pt x="1078067" y="858607"/>
                    <a:pt x="1071911" y="873469"/>
                    <a:pt x="1060954" y="884426"/>
                  </a:cubicBezTo>
                  <a:cubicBezTo>
                    <a:pt x="1049996" y="895384"/>
                    <a:pt x="1035135" y="901540"/>
                    <a:pt x="1019638" y="901540"/>
                  </a:cubicBezTo>
                  <a:lnTo>
                    <a:pt x="58429" y="901540"/>
                  </a:lnTo>
                  <a:cubicBezTo>
                    <a:pt x="42932" y="901540"/>
                    <a:pt x="28071" y="895384"/>
                    <a:pt x="17113" y="884426"/>
                  </a:cubicBezTo>
                  <a:cubicBezTo>
                    <a:pt x="6156" y="873469"/>
                    <a:pt x="0" y="858607"/>
                    <a:pt x="0" y="843111"/>
                  </a:cubicBezTo>
                  <a:lnTo>
                    <a:pt x="0" y="58429"/>
                  </a:lnTo>
                  <a:cubicBezTo>
                    <a:pt x="0" y="42932"/>
                    <a:pt x="6156" y="28071"/>
                    <a:pt x="17113" y="17113"/>
                  </a:cubicBezTo>
                  <a:cubicBezTo>
                    <a:pt x="28071" y="6156"/>
                    <a:pt x="42932" y="0"/>
                    <a:pt x="58429" y="0"/>
                  </a:cubicBezTo>
                  <a:close/>
                </a:path>
              </a:pathLst>
            </a:custGeom>
            <a:blipFill>
              <a:blip r:embed="rId4"/>
              <a:stretch>
                <a:fillRect l="-42891" t="0" r="-53434" b="-4151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481152" y="3577679"/>
            <a:ext cx="2798591" cy="2326921"/>
            <a:chOff x="0" y="0"/>
            <a:chExt cx="1084283" cy="9015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4283" cy="901540"/>
            </a:xfrm>
            <a:custGeom>
              <a:avLst/>
              <a:gdLst/>
              <a:ahLst/>
              <a:cxnLst/>
              <a:rect r="r" b="b" t="t" l="l"/>
              <a:pathLst>
                <a:path h="901540" w="1084283">
                  <a:moveTo>
                    <a:pt x="58094" y="0"/>
                  </a:moveTo>
                  <a:lnTo>
                    <a:pt x="1026189" y="0"/>
                  </a:lnTo>
                  <a:cubicBezTo>
                    <a:pt x="1058274" y="0"/>
                    <a:pt x="1084283" y="26009"/>
                    <a:pt x="1084283" y="58094"/>
                  </a:cubicBezTo>
                  <a:lnTo>
                    <a:pt x="1084283" y="843446"/>
                  </a:lnTo>
                  <a:cubicBezTo>
                    <a:pt x="1084283" y="875530"/>
                    <a:pt x="1058274" y="901540"/>
                    <a:pt x="1026189" y="901540"/>
                  </a:cubicBezTo>
                  <a:lnTo>
                    <a:pt x="58094" y="901540"/>
                  </a:lnTo>
                  <a:cubicBezTo>
                    <a:pt x="26009" y="901540"/>
                    <a:pt x="0" y="875530"/>
                    <a:pt x="0" y="843446"/>
                  </a:cubicBezTo>
                  <a:lnTo>
                    <a:pt x="0" y="58094"/>
                  </a:lnTo>
                  <a:cubicBezTo>
                    <a:pt x="0" y="26009"/>
                    <a:pt x="26009" y="0"/>
                    <a:pt x="5809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4429" r="0" b="-2442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666064" y="5698104"/>
            <a:ext cx="2802851" cy="2383886"/>
            <a:chOff x="0" y="0"/>
            <a:chExt cx="679606" cy="5780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9606" cy="578020"/>
            </a:xfrm>
            <a:custGeom>
              <a:avLst/>
              <a:gdLst/>
              <a:ahLst/>
              <a:cxnLst/>
              <a:rect r="r" b="b" t="t" l="l"/>
              <a:pathLst>
                <a:path h="578020" w="679606">
                  <a:moveTo>
                    <a:pt x="58005" y="0"/>
                  </a:moveTo>
                  <a:lnTo>
                    <a:pt x="621601" y="0"/>
                  </a:lnTo>
                  <a:cubicBezTo>
                    <a:pt x="653636" y="0"/>
                    <a:pt x="679606" y="25970"/>
                    <a:pt x="679606" y="58005"/>
                  </a:cubicBezTo>
                  <a:lnTo>
                    <a:pt x="679606" y="520014"/>
                  </a:lnTo>
                  <a:cubicBezTo>
                    <a:pt x="679606" y="552050"/>
                    <a:pt x="653636" y="578020"/>
                    <a:pt x="621601" y="578020"/>
                  </a:cubicBezTo>
                  <a:lnTo>
                    <a:pt x="58005" y="578020"/>
                  </a:lnTo>
                  <a:cubicBezTo>
                    <a:pt x="25970" y="578020"/>
                    <a:pt x="0" y="552050"/>
                    <a:pt x="0" y="520014"/>
                  </a:cubicBezTo>
                  <a:lnTo>
                    <a:pt x="0" y="58005"/>
                  </a:lnTo>
                  <a:cubicBezTo>
                    <a:pt x="0" y="25970"/>
                    <a:pt x="25970" y="0"/>
                    <a:pt x="58005" y="0"/>
                  </a:cubicBezTo>
                  <a:close/>
                </a:path>
              </a:pathLst>
            </a:custGeom>
            <a:solidFill>
              <a:srgbClr val="A84F2E"/>
            </a:solidFill>
            <a:ln w="9525" cap="rnd">
              <a:solidFill>
                <a:srgbClr val="10464E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679606" cy="635170"/>
            </a:xfrm>
            <a:prstGeom prst="rect">
              <a:avLst/>
            </a:prstGeom>
          </p:spPr>
          <p:txBody>
            <a:bodyPr anchor="ctr" rtlCol="false" tIns="50781" lIns="50781" bIns="50781" rIns="50781"/>
            <a:lstStyle/>
            <a:p>
              <a:pPr algn="ctr">
                <a:lnSpc>
                  <a:spcPts val="4198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537485" y="6425064"/>
            <a:ext cx="1116539" cy="929917"/>
            <a:chOff x="0" y="0"/>
            <a:chExt cx="270727" cy="22547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0727" cy="225476"/>
            </a:xfrm>
            <a:custGeom>
              <a:avLst/>
              <a:gdLst/>
              <a:ahLst/>
              <a:cxnLst/>
              <a:rect r="r" b="b" t="t" l="l"/>
              <a:pathLst>
                <a:path h="225476" w="270727">
                  <a:moveTo>
                    <a:pt x="104008" y="0"/>
                  </a:moveTo>
                  <a:lnTo>
                    <a:pt x="166719" y="0"/>
                  </a:lnTo>
                  <a:cubicBezTo>
                    <a:pt x="194304" y="0"/>
                    <a:pt x="220758" y="10958"/>
                    <a:pt x="240264" y="30463"/>
                  </a:cubicBezTo>
                  <a:cubicBezTo>
                    <a:pt x="259769" y="49968"/>
                    <a:pt x="270727" y="76423"/>
                    <a:pt x="270727" y="104008"/>
                  </a:cubicBezTo>
                  <a:lnTo>
                    <a:pt x="270727" y="121469"/>
                  </a:lnTo>
                  <a:cubicBezTo>
                    <a:pt x="270727" y="149053"/>
                    <a:pt x="259769" y="175508"/>
                    <a:pt x="240264" y="195013"/>
                  </a:cubicBezTo>
                  <a:cubicBezTo>
                    <a:pt x="220758" y="214519"/>
                    <a:pt x="194304" y="225476"/>
                    <a:pt x="166719" y="225476"/>
                  </a:cubicBezTo>
                  <a:lnTo>
                    <a:pt x="104008" y="225476"/>
                  </a:lnTo>
                  <a:cubicBezTo>
                    <a:pt x="76423" y="225476"/>
                    <a:pt x="49968" y="214519"/>
                    <a:pt x="30463" y="195013"/>
                  </a:cubicBezTo>
                  <a:cubicBezTo>
                    <a:pt x="10958" y="175508"/>
                    <a:pt x="0" y="149053"/>
                    <a:pt x="0" y="121469"/>
                  </a:cubicBezTo>
                  <a:lnTo>
                    <a:pt x="0" y="104008"/>
                  </a:lnTo>
                  <a:cubicBezTo>
                    <a:pt x="0" y="76423"/>
                    <a:pt x="10958" y="49968"/>
                    <a:pt x="30463" y="30463"/>
                  </a:cubicBezTo>
                  <a:cubicBezTo>
                    <a:pt x="49968" y="10958"/>
                    <a:pt x="76423" y="0"/>
                    <a:pt x="104008" y="0"/>
                  </a:cubicBezTo>
                  <a:close/>
                </a:path>
              </a:pathLst>
            </a:custGeom>
            <a:solidFill>
              <a:srgbClr val="B25D3E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270727" cy="282626"/>
            </a:xfrm>
            <a:prstGeom prst="rect">
              <a:avLst/>
            </a:prstGeom>
          </p:spPr>
          <p:txBody>
            <a:bodyPr anchor="ctr" rtlCol="false" tIns="50781" lIns="50781" bIns="50781" rIns="50781"/>
            <a:lstStyle/>
            <a:p>
              <a:pPr algn="ctr">
                <a:lnSpc>
                  <a:spcPts val="4198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96460" y="3577679"/>
            <a:ext cx="2798591" cy="2326921"/>
            <a:chOff x="0" y="0"/>
            <a:chExt cx="1084283" cy="9015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84283" cy="901540"/>
            </a:xfrm>
            <a:custGeom>
              <a:avLst/>
              <a:gdLst/>
              <a:ahLst/>
              <a:cxnLst/>
              <a:rect r="r" b="b" t="t" l="l"/>
              <a:pathLst>
                <a:path h="901540" w="1084283">
                  <a:moveTo>
                    <a:pt x="58094" y="0"/>
                  </a:moveTo>
                  <a:lnTo>
                    <a:pt x="1026189" y="0"/>
                  </a:lnTo>
                  <a:cubicBezTo>
                    <a:pt x="1058274" y="0"/>
                    <a:pt x="1084283" y="26009"/>
                    <a:pt x="1084283" y="58094"/>
                  </a:cubicBezTo>
                  <a:lnTo>
                    <a:pt x="1084283" y="843446"/>
                  </a:lnTo>
                  <a:cubicBezTo>
                    <a:pt x="1084283" y="875530"/>
                    <a:pt x="1058274" y="901540"/>
                    <a:pt x="1026189" y="901540"/>
                  </a:cubicBezTo>
                  <a:lnTo>
                    <a:pt x="58094" y="901540"/>
                  </a:lnTo>
                  <a:cubicBezTo>
                    <a:pt x="26009" y="901540"/>
                    <a:pt x="0" y="875530"/>
                    <a:pt x="0" y="843446"/>
                  </a:cubicBezTo>
                  <a:lnTo>
                    <a:pt x="0" y="58094"/>
                  </a:lnTo>
                  <a:cubicBezTo>
                    <a:pt x="0" y="26009"/>
                    <a:pt x="26009" y="0"/>
                    <a:pt x="58094" y="0"/>
                  </a:cubicBezTo>
                  <a:close/>
                </a:path>
              </a:pathLst>
            </a:custGeom>
            <a:blipFill>
              <a:blip r:embed="rId6"/>
              <a:stretch>
                <a:fillRect l="-83784" t="-57829" r="-67122" b="-68495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33450" y="690542"/>
            <a:ext cx="301643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MB Hydraulikk AS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3450" y="9220200"/>
            <a:ext cx="301643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Brand Guidelines MBH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68194" y="1528320"/>
            <a:ext cx="6905695" cy="169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880"/>
              </a:lnSpc>
            </a:pPr>
            <a:r>
              <a:rPr lang="en-US" sz="12384" spc="-520">
                <a:solidFill>
                  <a:srgbClr val="1A607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Farge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673889" y="1067261"/>
            <a:ext cx="7587198" cy="24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36"/>
              </a:lnSpc>
              <a:spcBef>
                <a:spcPct val="0"/>
              </a:spcBef>
            </a:pPr>
            <a:r>
              <a:rPr lang="en-US" sz="13526" i="true" spc="-568">
                <a:solidFill>
                  <a:srgbClr val="1A6070"/>
                </a:solidFill>
                <a:latin typeface="Migra Extra-Light Italics"/>
                <a:ea typeface="Migra Extra-Light Italics"/>
                <a:cs typeface="Migra Extra-Light Italics"/>
                <a:sym typeface="Migra Extra-Light Italics"/>
              </a:rPr>
              <a:t>palett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244776" y="7415908"/>
            <a:ext cx="1644259" cy="48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b="true" sz="1698">
                <a:solidFill>
                  <a:srgbClr val="10464E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BAUXITE</a:t>
            </a:r>
          </a:p>
          <a:p>
            <a:pPr algn="ctr">
              <a:lnSpc>
                <a:spcPts val="1538"/>
              </a:lnSpc>
              <a:spcBef>
                <a:spcPct val="0"/>
              </a:spcBef>
            </a:pPr>
            <a:r>
              <a:rPr lang="en-US" b="true" sz="1098">
                <a:solidFill>
                  <a:srgbClr val="10464E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#A84F2E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057734" y="7415908"/>
            <a:ext cx="1644259" cy="48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b="true" sz="1698">
                <a:solidFill>
                  <a:srgbClr val="A84F2E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DEEP TEAL</a:t>
            </a:r>
          </a:p>
          <a:p>
            <a:pPr algn="ctr">
              <a:lnSpc>
                <a:spcPts val="1538"/>
              </a:lnSpc>
              <a:spcBef>
                <a:spcPct val="0"/>
              </a:spcBef>
            </a:pPr>
            <a:r>
              <a:rPr lang="en-US" b="true" sz="1098">
                <a:solidFill>
                  <a:srgbClr val="A84F2E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#10464E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842280" y="7415908"/>
            <a:ext cx="1644259" cy="48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b="true" sz="1698">
                <a:solidFill>
                  <a:srgbClr val="EDE8E1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CRIMSON</a:t>
            </a:r>
          </a:p>
          <a:p>
            <a:pPr algn="ctr">
              <a:lnSpc>
                <a:spcPts val="1538"/>
              </a:lnSpc>
              <a:spcBef>
                <a:spcPct val="0"/>
              </a:spcBef>
            </a:pPr>
            <a:r>
              <a:rPr lang="en-US" b="true" sz="1098">
                <a:solidFill>
                  <a:srgbClr val="EDE8E1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#641919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639380" y="7415908"/>
            <a:ext cx="1644259" cy="48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b="true" sz="1698">
                <a:solidFill>
                  <a:srgbClr val="A84F2E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ALU</a:t>
            </a:r>
          </a:p>
          <a:p>
            <a:pPr algn="ctr">
              <a:lnSpc>
                <a:spcPts val="1538"/>
              </a:lnSpc>
              <a:spcBef>
                <a:spcPct val="0"/>
              </a:spcBef>
            </a:pPr>
            <a:r>
              <a:rPr lang="en-US" b="true" sz="1098">
                <a:solidFill>
                  <a:srgbClr val="A84F2E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#858F8F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423729" y="7415908"/>
            <a:ext cx="1644259" cy="488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b="true" sz="1698">
                <a:solidFill>
                  <a:srgbClr val="10464E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WARM WHITE</a:t>
            </a:r>
          </a:p>
          <a:p>
            <a:pPr algn="ctr">
              <a:lnSpc>
                <a:spcPts val="1538"/>
              </a:lnSpc>
              <a:spcBef>
                <a:spcPct val="0"/>
              </a:spcBef>
            </a:pPr>
            <a:r>
              <a:rPr lang="en-US" b="true" sz="1098">
                <a:solidFill>
                  <a:srgbClr val="10464E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#FAF6F1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4892" y="1427134"/>
            <a:ext cx="5909855" cy="8701148"/>
            <a:chOff x="0" y="0"/>
            <a:chExt cx="1556505" cy="22916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56505" cy="2291660"/>
            </a:xfrm>
            <a:custGeom>
              <a:avLst/>
              <a:gdLst/>
              <a:ahLst/>
              <a:cxnLst/>
              <a:rect r="r" b="b" t="t" l="l"/>
              <a:pathLst>
                <a:path h="2291660" w="1556505">
                  <a:moveTo>
                    <a:pt x="49780" y="0"/>
                  </a:moveTo>
                  <a:lnTo>
                    <a:pt x="1506725" y="0"/>
                  </a:lnTo>
                  <a:cubicBezTo>
                    <a:pt x="1519927" y="0"/>
                    <a:pt x="1532589" y="5245"/>
                    <a:pt x="1541925" y="14580"/>
                  </a:cubicBezTo>
                  <a:cubicBezTo>
                    <a:pt x="1551260" y="23916"/>
                    <a:pt x="1556505" y="36578"/>
                    <a:pt x="1556505" y="49780"/>
                  </a:cubicBezTo>
                  <a:lnTo>
                    <a:pt x="1556505" y="2241880"/>
                  </a:lnTo>
                  <a:cubicBezTo>
                    <a:pt x="1556505" y="2255083"/>
                    <a:pt x="1551260" y="2267745"/>
                    <a:pt x="1541925" y="2277080"/>
                  </a:cubicBezTo>
                  <a:cubicBezTo>
                    <a:pt x="1532589" y="2286416"/>
                    <a:pt x="1519927" y="2291660"/>
                    <a:pt x="1506725" y="2291660"/>
                  </a:cubicBezTo>
                  <a:lnTo>
                    <a:pt x="49780" y="2291660"/>
                  </a:lnTo>
                  <a:cubicBezTo>
                    <a:pt x="36578" y="2291660"/>
                    <a:pt x="23916" y="2286416"/>
                    <a:pt x="14580" y="2277080"/>
                  </a:cubicBezTo>
                  <a:cubicBezTo>
                    <a:pt x="5245" y="2267745"/>
                    <a:pt x="0" y="2255083"/>
                    <a:pt x="0" y="2241880"/>
                  </a:cubicBezTo>
                  <a:lnTo>
                    <a:pt x="0" y="49780"/>
                  </a:lnTo>
                  <a:cubicBezTo>
                    <a:pt x="0" y="36578"/>
                    <a:pt x="5245" y="23916"/>
                    <a:pt x="14580" y="14580"/>
                  </a:cubicBezTo>
                  <a:cubicBezTo>
                    <a:pt x="23916" y="5245"/>
                    <a:pt x="36578" y="0"/>
                    <a:pt x="49780" y="0"/>
                  </a:cubicBezTo>
                  <a:close/>
                </a:path>
              </a:pathLst>
            </a:custGeom>
            <a:ln w="19050" cap="rnd">
              <a:solidFill>
                <a:srgbClr val="641919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56505" cy="2339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51928" y="1415351"/>
            <a:ext cx="5877482" cy="8712931"/>
            <a:chOff x="0" y="0"/>
            <a:chExt cx="1547979" cy="2294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7979" cy="2294764"/>
            </a:xfrm>
            <a:custGeom>
              <a:avLst/>
              <a:gdLst/>
              <a:ahLst/>
              <a:cxnLst/>
              <a:rect r="r" b="b" t="t" l="l"/>
              <a:pathLst>
                <a:path h="2294764" w="1547979">
                  <a:moveTo>
                    <a:pt x="50054" y="0"/>
                  </a:moveTo>
                  <a:lnTo>
                    <a:pt x="1497925" y="0"/>
                  </a:lnTo>
                  <a:cubicBezTo>
                    <a:pt x="1511200" y="0"/>
                    <a:pt x="1523931" y="5274"/>
                    <a:pt x="1533318" y="14661"/>
                  </a:cubicBezTo>
                  <a:cubicBezTo>
                    <a:pt x="1542705" y="24048"/>
                    <a:pt x="1547979" y="36779"/>
                    <a:pt x="1547979" y="50054"/>
                  </a:cubicBezTo>
                  <a:lnTo>
                    <a:pt x="1547979" y="2244709"/>
                  </a:lnTo>
                  <a:cubicBezTo>
                    <a:pt x="1547979" y="2257985"/>
                    <a:pt x="1542705" y="2270716"/>
                    <a:pt x="1533318" y="2280103"/>
                  </a:cubicBezTo>
                  <a:cubicBezTo>
                    <a:pt x="1523931" y="2289490"/>
                    <a:pt x="1511200" y="2294764"/>
                    <a:pt x="1497925" y="2294764"/>
                  </a:cubicBezTo>
                  <a:lnTo>
                    <a:pt x="50054" y="2294764"/>
                  </a:lnTo>
                  <a:cubicBezTo>
                    <a:pt x="22410" y="2294764"/>
                    <a:pt x="0" y="2272354"/>
                    <a:pt x="0" y="2244709"/>
                  </a:cubicBezTo>
                  <a:lnTo>
                    <a:pt x="0" y="50054"/>
                  </a:lnTo>
                  <a:cubicBezTo>
                    <a:pt x="0" y="36779"/>
                    <a:pt x="5274" y="24048"/>
                    <a:pt x="14661" y="14661"/>
                  </a:cubicBezTo>
                  <a:cubicBezTo>
                    <a:pt x="24048" y="5274"/>
                    <a:pt x="36779" y="0"/>
                    <a:pt x="50054" y="0"/>
                  </a:cubicBezTo>
                  <a:close/>
                </a:path>
              </a:pathLst>
            </a:custGeom>
            <a:ln w="19050" cap="rnd">
              <a:solidFill>
                <a:srgbClr val="64191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547979" cy="234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76593" y="1415351"/>
            <a:ext cx="5492776" cy="8712931"/>
            <a:chOff x="0" y="0"/>
            <a:chExt cx="1446657" cy="22947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6657" cy="2294764"/>
            </a:xfrm>
            <a:custGeom>
              <a:avLst/>
              <a:gdLst/>
              <a:ahLst/>
              <a:cxnLst/>
              <a:rect r="r" b="b" t="t" l="l"/>
              <a:pathLst>
                <a:path h="2294764" w="1446657">
                  <a:moveTo>
                    <a:pt x="53560" y="0"/>
                  </a:moveTo>
                  <a:lnTo>
                    <a:pt x="1393097" y="0"/>
                  </a:lnTo>
                  <a:cubicBezTo>
                    <a:pt x="1422678" y="0"/>
                    <a:pt x="1446657" y="23980"/>
                    <a:pt x="1446657" y="53560"/>
                  </a:cubicBezTo>
                  <a:lnTo>
                    <a:pt x="1446657" y="2241204"/>
                  </a:lnTo>
                  <a:cubicBezTo>
                    <a:pt x="1446657" y="2255409"/>
                    <a:pt x="1441014" y="2269032"/>
                    <a:pt x="1430970" y="2279076"/>
                  </a:cubicBezTo>
                  <a:cubicBezTo>
                    <a:pt x="1420925" y="2289121"/>
                    <a:pt x="1407302" y="2294764"/>
                    <a:pt x="1393097" y="2294764"/>
                  </a:cubicBezTo>
                  <a:lnTo>
                    <a:pt x="53560" y="2294764"/>
                  </a:lnTo>
                  <a:cubicBezTo>
                    <a:pt x="23980" y="2294764"/>
                    <a:pt x="0" y="2270784"/>
                    <a:pt x="0" y="2241204"/>
                  </a:cubicBezTo>
                  <a:lnTo>
                    <a:pt x="0" y="53560"/>
                  </a:lnTo>
                  <a:cubicBezTo>
                    <a:pt x="0" y="23980"/>
                    <a:pt x="23980" y="0"/>
                    <a:pt x="53560" y="0"/>
                  </a:cubicBezTo>
                  <a:close/>
                </a:path>
              </a:pathLst>
            </a:custGeom>
            <a:ln w="19050" cap="rnd">
              <a:solidFill>
                <a:srgbClr val="641919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46657" cy="2342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2450" y="3141775"/>
            <a:ext cx="5456439" cy="717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skal hør</a:t>
            </a: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 ut som folk som kan faget sitt.</a:t>
            </a:r>
          </a:p>
          <a:p>
            <a:pPr algn="l">
              <a:lnSpc>
                <a:spcPts val="3191"/>
              </a:lnSpc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viser kompetanse gjennom det vi sier, ikke ved å gjøre språket mer komplisert enn nødvendig.</a:t>
            </a:r>
          </a:p>
          <a:p>
            <a:pPr algn="l">
              <a:lnSpc>
                <a:spcPts val="3191"/>
              </a:lnSpc>
            </a:pPr>
          </a:p>
          <a:p>
            <a:pPr algn="l">
              <a:lnSpc>
                <a:spcPts val="3191"/>
              </a:lnSpc>
            </a:pPr>
            <a:r>
              <a:rPr lang="en-US" b="true" sz="1899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Kjennetegn: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Teknisk troverdig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Saklig og trygg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Kunnskapsbasert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Nøkternt selvsikker</a:t>
            </a:r>
          </a:p>
          <a:p>
            <a:pPr algn="l">
              <a:lnSpc>
                <a:spcPts val="3191"/>
              </a:lnSpc>
            </a:pPr>
            <a:r>
              <a:rPr lang="en-US" b="true" sz="1899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Slik høres det ut:</a:t>
            </a:r>
          </a:p>
          <a:p>
            <a:pPr algn="l">
              <a:lnSpc>
                <a:spcPts val="3191"/>
              </a:lnSpc>
            </a:pPr>
            <a:r>
              <a:rPr lang="en-US" sz="18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“Produsert i sjøvannsbestandig aluminium.”</a:t>
            </a:r>
          </a:p>
          <a:p>
            <a:pPr algn="l">
              <a:lnSpc>
                <a:spcPts val="3191"/>
              </a:lnSpc>
            </a:pPr>
            <a:r>
              <a:rPr lang="en-US" sz="18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“Utforma for kontinuerleg drift.”</a:t>
            </a:r>
          </a:p>
          <a:p>
            <a:pPr algn="l">
              <a:lnSpc>
                <a:spcPts val="3191"/>
              </a:lnSpc>
            </a:pPr>
            <a:r>
              <a:rPr lang="en-US" sz="18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“Løysingar tilpassa krevende bruksområde.”</a:t>
            </a:r>
          </a:p>
          <a:p>
            <a:pPr algn="l">
              <a:lnSpc>
                <a:spcPts val="3191"/>
              </a:lnSpc>
            </a:pPr>
            <a:r>
              <a:rPr lang="en-US" b="true" sz="1899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Ikke slik:</a:t>
            </a:r>
          </a:p>
          <a:p>
            <a:pPr algn="l">
              <a:lnSpc>
                <a:spcPts val="3191"/>
              </a:lnSpc>
            </a:pPr>
            <a:r>
              <a:rPr lang="en-US" sz="18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“State-of-the-art engineering excellence”</a:t>
            </a:r>
          </a:p>
          <a:p>
            <a:pPr algn="l">
              <a:lnSpc>
                <a:spcPts val="3191"/>
              </a:lnSpc>
            </a:pPr>
            <a:r>
              <a:rPr lang="en-US" sz="18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“Unike og revolusjonerende konsepter”</a:t>
            </a:r>
          </a:p>
          <a:p>
            <a:pPr algn="l">
              <a:lnSpc>
                <a:spcPts val="3191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767817" y="1650931"/>
            <a:ext cx="929758" cy="929758"/>
          </a:xfrm>
          <a:custGeom>
            <a:avLst/>
            <a:gdLst/>
            <a:ahLst/>
            <a:cxnLst/>
            <a:rect r="r" b="b" t="t" l="l"/>
            <a:pathLst>
              <a:path h="929758" w="929758">
                <a:moveTo>
                  <a:pt x="0" y="0"/>
                </a:moveTo>
                <a:lnTo>
                  <a:pt x="929758" y="0"/>
                </a:lnTo>
                <a:lnTo>
                  <a:pt x="929758" y="929758"/>
                </a:lnTo>
                <a:lnTo>
                  <a:pt x="0" y="929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971662" y="1568127"/>
            <a:ext cx="1046809" cy="1046809"/>
          </a:xfrm>
          <a:custGeom>
            <a:avLst/>
            <a:gdLst/>
            <a:ahLst/>
            <a:cxnLst/>
            <a:rect r="r" b="b" t="t" l="l"/>
            <a:pathLst>
              <a:path h="1046809" w="1046809">
                <a:moveTo>
                  <a:pt x="0" y="0"/>
                </a:moveTo>
                <a:lnTo>
                  <a:pt x="1046810" y="0"/>
                </a:lnTo>
                <a:lnTo>
                  <a:pt x="1046810" y="1046809"/>
                </a:lnTo>
                <a:lnTo>
                  <a:pt x="0" y="1046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884388" y="1568127"/>
            <a:ext cx="1012562" cy="1012562"/>
          </a:xfrm>
          <a:custGeom>
            <a:avLst/>
            <a:gdLst/>
            <a:ahLst/>
            <a:cxnLst/>
            <a:rect r="r" b="b" t="t" l="l"/>
            <a:pathLst>
              <a:path h="1012562" w="1012562">
                <a:moveTo>
                  <a:pt x="0" y="0"/>
                </a:moveTo>
                <a:lnTo>
                  <a:pt x="1012563" y="0"/>
                </a:lnTo>
                <a:lnTo>
                  <a:pt x="1012563" y="1012562"/>
                </a:lnTo>
                <a:lnTo>
                  <a:pt x="0" y="1012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33450" y="690542"/>
            <a:ext cx="301643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MB Hydraulikk 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88363" y="254545"/>
            <a:ext cx="5227988" cy="116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711"/>
              </a:lnSpc>
            </a:pPr>
            <a:r>
              <a:rPr lang="en-US" sz="8376" spc="-351">
                <a:solidFill>
                  <a:srgbClr val="1A607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Merke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16351" y="-17485"/>
            <a:ext cx="5743924" cy="167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36"/>
              </a:lnSpc>
              <a:spcBef>
                <a:spcPct val="0"/>
              </a:spcBef>
            </a:pPr>
            <a:r>
              <a:rPr lang="en-US" sz="9240" i="true" spc="-388">
                <a:solidFill>
                  <a:srgbClr val="1A6070"/>
                </a:solidFill>
                <a:latin typeface="Migra Extra-Light Italics"/>
                <a:ea typeface="Migra Extra-Light Italics"/>
                <a:cs typeface="Migra Extra-Light Italics"/>
                <a:sym typeface="Migra Extra-Light Italics"/>
              </a:rPr>
              <a:t>stemme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6633" y="3141775"/>
            <a:ext cx="5566372" cy="678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skrive</a:t>
            </a: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 rett på sak. Budskapet skal være lett å forstå og enkelt å bruke – enten det står på nettsiden, i et tilbud eller i en presentasjon.</a:t>
            </a:r>
          </a:p>
          <a:p>
            <a:pPr algn="l">
              <a:lnSpc>
                <a:spcPts val="3191"/>
              </a:lnSpc>
            </a:pPr>
          </a:p>
          <a:p>
            <a:pPr algn="l">
              <a:lnSpc>
                <a:spcPts val="3191"/>
              </a:lnSpc>
            </a:pPr>
            <a:r>
              <a:rPr lang="en-US" b="true" sz="1899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Kjennetegn: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Korte setninger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Tydelig språk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Lite fyllord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Konkret nytteverdi</a:t>
            </a:r>
          </a:p>
          <a:p>
            <a:pPr algn="l">
              <a:lnSpc>
                <a:spcPts val="3191"/>
              </a:lnSpc>
            </a:pPr>
            <a:r>
              <a:rPr lang="en-US" b="true" sz="1899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Slik høres det ut:</a:t>
            </a:r>
          </a:p>
          <a:p>
            <a:pPr algn="l">
              <a:lnSpc>
                <a:spcPts val="3191"/>
              </a:lnSpc>
            </a:pPr>
            <a:r>
              <a:rPr lang="en-US" sz="18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“Utviklet for krevende maritime miljø.”</a:t>
            </a:r>
          </a:p>
          <a:p>
            <a:pPr algn="l">
              <a:lnSpc>
                <a:spcPts val="3191"/>
              </a:lnSpc>
            </a:pPr>
            <a:r>
              <a:rPr lang="en-US" sz="18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“Låg vekt. Høg styrke. Enkelt vedlikehald.”</a:t>
            </a:r>
          </a:p>
          <a:p>
            <a:pPr algn="l">
              <a:lnSpc>
                <a:spcPts val="3191"/>
              </a:lnSpc>
            </a:pPr>
            <a:r>
              <a:rPr lang="en-US" sz="18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“Bygd for drift og levetid.”</a:t>
            </a:r>
          </a:p>
          <a:p>
            <a:pPr algn="l">
              <a:lnSpc>
                <a:spcPts val="3191"/>
              </a:lnSpc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b="true" sz="1899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kke slik:</a:t>
            </a:r>
          </a:p>
          <a:p>
            <a:pPr algn="l">
              <a:lnSpc>
                <a:spcPts val="3191"/>
              </a:lnSpc>
            </a:pPr>
            <a:r>
              <a:rPr lang="en-US" sz="18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“Banebrytende løsninger i verdensklasse”</a:t>
            </a:r>
          </a:p>
          <a:p>
            <a:pPr algn="l">
              <a:lnSpc>
                <a:spcPts val="3191"/>
              </a:lnSpc>
            </a:pPr>
            <a:r>
              <a:rPr lang="en-US" sz="18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“Innovasjon som redefinerer framtiden”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853286" y="3109347"/>
            <a:ext cx="5085668" cy="677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skal vær</a:t>
            </a: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profesjonelle, men aldri stive.</a:t>
            </a:r>
          </a:p>
          <a:p>
            <a:pPr algn="l">
              <a:lnSpc>
                <a:spcPts val="3191"/>
              </a:lnSpc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 er nært virkeligheten, nært kundens driftshverdag og nært hvor vi kommer fra.</a:t>
            </a:r>
          </a:p>
          <a:p>
            <a:pPr algn="l">
              <a:lnSpc>
                <a:spcPts val="3191"/>
              </a:lnSpc>
            </a:pPr>
          </a:p>
          <a:p>
            <a:pPr algn="l">
              <a:lnSpc>
                <a:spcPts val="3191"/>
              </a:lnSpc>
            </a:pPr>
            <a:r>
              <a:rPr lang="en-US" b="true" sz="1899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Kjennetegn: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Naturlig tone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Troverdig og varm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Praktisk orientert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Uten unødvendig salgsspråk</a:t>
            </a:r>
          </a:p>
          <a:p>
            <a:pPr algn="l">
              <a:lnSpc>
                <a:spcPts val="3191"/>
              </a:lnSpc>
            </a:pPr>
            <a:r>
              <a:rPr lang="en-US" b="true" sz="1899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Slik høres det ut:</a:t>
            </a:r>
          </a:p>
          <a:p>
            <a:pPr algn="l">
              <a:lnSpc>
                <a:spcPts val="3191"/>
              </a:lnSpc>
            </a:pPr>
            <a:r>
              <a:rPr lang="en-US" sz="18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“Bygd i Mjosundet.”</a:t>
            </a:r>
          </a:p>
          <a:p>
            <a:pPr algn="l">
              <a:lnSpc>
                <a:spcPts val="3191"/>
              </a:lnSpc>
            </a:pPr>
            <a:r>
              <a:rPr lang="en-US" sz="18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“Av folk som kjenner maritime forhold.”</a:t>
            </a:r>
          </a:p>
          <a:p>
            <a:pPr algn="l">
              <a:lnSpc>
                <a:spcPts val="3191"/>
              </a:lnSpc>
            </a:pPr>
            <a:r>
              <a:rPr lang="en-US" sz="1899" i="true">
                <a:solidFill>
                  <a:srgbClr val="00000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“Løysingar som fungerer i praksis.”</a:t>
            </a:r>
          </a:p>
          <a:p>
            <a:pPr algn="l">
              <a:lnSpc>
                <a:spcPts val="3191"/>
              </a:lnSpc>
            </a:pPr>
            <a:r>
              <a:rPr lang="en-US" b="true" sz="1899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Ikke slik:</a:t>
            </a:r>
          </a:p>
          <a:p>
            <a:pPr algn="l">
              <a:lnSpc>
                <a:spcPts val="3191"/>
              </a:lnSpc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“Eksklusive premiumløsninger”</a:t>
            </a:r>
          </a:p>
          <a:p>
            <a:pPr algn="l">
              <a:lnSpc>
                <a:spcPts val="3191"/>
              </a:lnSpc>
            </a:pPr>
            <a:r>
              <a:rPr lang="en-US" sz="18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“Vi er en ledende totalleverandør innen…”</a:t>
            </a:r>
          </a:p>
          <a:p>
            <a:pPr algn="l">
              <a:lnSpc>
                <a:spcPts val="3191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33450" y="2720156"/>
            <a:ext cx="4517480" cy="3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2299" b="true">
                <a:solidFill>
                  <a:srgbClr val="1A607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Tydelig og presis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31930" y="2771189"/>
            <a:ext cx="4517480" cy="3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2299" b="true">
                <a:solidFill>
                  <a:srgbClr val="1A607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F</a:t>
            </a:r>
            <a:r>
              <a:rPr lang="en-US" b="true" sz="2299">
                <a:solidFill>
                  <a:srgbClr val="1A607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aglig trygg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37380" y="2720156"/>
            <a:ext cx="4517480" cy="3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2299" b="true">
                <a:solidFill>
                  <a:srgbClr val="1A607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Jor</a:t>
            </a:r>
            <a:r>
              <a:rPr lang="en-US" b="true" sz="2299">
                <a:solidFill>
                  <a:srgbClr val="1A607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dnær og robust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64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690542"/>
            <a:ext cx="301643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AF6F1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MB Hydraulikk 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33450" y="9220200"/>
            <a:ext cx="301643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AF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Brand Guidelines MBH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23576" y="1255767"/>
            <a:ext cx="6640848" cy="119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7"/>
              </a:lnSpc>
            </a:pPr>
            <a:r>
              <a:rPr lang="en-US" sz="8776" spc="-368">
                <a:solidFill>
                  <a:srgbClr val="FAF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Tagline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33450" y="2872374"/>
            <a:ext cx="8004236" cy="5735643"/>
            <a:chOff x="0" y="0"/>
            <a:chExt cx="2108112" cy="1510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8112" cy="1510622"/>
            </a:xfrm>
            <a:custGeom>
              <a:avLst/>
              <a:gdLst/>
              <a:ahLst/>
              <a:cxnLst/>
              <a:rect r="r" b="b" t="t" l="l"/>
              <a:pathLst>
                <a:path h="1510622" w="2108112">
                  <a:moveTo>
                    <a:pt x="36755" y="0"/>
                  </a:moveTo>
                  <a:lnTo>
                    <a:pt x="2071357" y="0"/>
                  </a:lnTo>
                  <a:cubicBezTo>
                    <a:pt x="2081105" y="0"/>
                    <a:pt x="2090454" y="3872"/>
                    <a:pt x="2097346" y="10765"/>
                  </a:cubicBezTo>
                  <a:cubicBezTo>
                    <a:pt x="2104239" y="17658"/>
                    <a:pt x="2108112" y="27007"/>
                    <a:pt x="2108112" y="36755"/>
                  </a:cubicBezTo>
                  <a:lnTo>
                    <a:pt x="2108112" y="1473867"/>
                  </a:lnTo>
                  <a:cubicBezTo>
                    <a:pt x="2108112" y="1483615"/>
                    <a:pt x="2104239" y="1492964"/>
                    <a:pt x="2097346" y="1499857"/>
                  </a:cubicBezTo>
                  <a:cubicBezTo>
                    <a:pt x="2090454" y="1506750"/>
                    <a:pt x="2081105" y="1510622"/>
                    <a:pt x="2071357" y="1510622"/>
                  </a:cubicBezTo>
                  <a:lnTo>
                    <a:pt x="36755" y="1510622"/>
                  </a:lnTo>
                  <a:cubicBezTo>
                    <a:pt x="27007" y="1510622"/>
                    <a:pt x="17658" y="1506750"/>
                    <a:pt x="10765" y="1499857"/>
                  </a:cubicBezTo>
                  <a:cubicBezTo>
                    <a:pt x="3872" y="1492964"/>
                    <a:pt x="0" y="1483615"/>
                    <a:pt x="0" y="1473867"/>
                  </a:cubicBezTo>
                  <a:lnTo>
                    <a:pt x="0" y="36755"/>
                  </a:lnTo>
                  <a:cubicBezTo>
                    <a:pt x="0" y="27007"/>
                    <a:pt x="3872" y="17658"/>
                    <a:pt x="10765" y="10765"/>
                  </a:cubicBezTo>
                  <a:cubicBezTo>
                    <a:pt x="17658" y="3872"/>
                    <a:pt x="27007" y="0"/>
                    <a:pt x="36755" y="0"/>
                  </a:cubicBezTo>
                  <a:close/>
                </a:path>
              </a:pathLst>
            </a:custGeom>
            <a:solidFill>
              <a:srgbClr val="FAF6F1"/>
            </a:solidFill>
            <a:ln w="19050" cap="rnd">
              <a:solidFill>
                <a:srgbClr val="641919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08112" cy="1558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91171" y="2872374"/>
            <a:ext cx="8004236" cy="5735643"/>
            <a:chOff x="0" y="0"/>
            <a:chExt cx="2108112" cy="15106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8112" cy="1510622"/>
            </a:xfrm>
            <a:custGeom>
              <a:avLst/>
              <a:gdLst/>
              <a:ahLst/>
              <a:cxnLst/>
              <a:rect r="r" b="b" t="t" l="l"/>
              <a:pathLst>
                <a:path h="1510622" w="2108112">
                  <a:moveTo>
                    <a:pt x="36755" y="0"/>
                  </a:moveTo>
                  <a:lnTo>
                    <a:pt x="2071357" y="0"/>
                  </a:lnTo>
                  <a:cubicBezTo>
                    <a:pt x="2081105" y="0"/>
                    <a:pt x="2090454" y="3872"/>
                    <a:pt x="2097346" y="10765"/>
                  </a:cubicBezTo>
                  <a:cubicBezTo>
                    <a:pt x="2104239" y="17658"/>
                    <a:pt x="2108112" y="27007"/>
                    <a:pt x="2108112" y="36755"/>
                  </a:cubicBezTo>
                  <a:lnTo>
                    <a:pt x="2108112" y="1473867"/>
                  </a:lnTo>
                  <a:cubicBezTo>
                    <a:pt x="2108112" y="1483615"/>
                    <a:pt x="2104239" y="1492964"/>
                    <a:pt x="2097346" y="1499857"/>
                  </a:cubicBezTo>
                  <a:cubicBezTo>
                    <a:pt x="2090454" y="1506750"/>
                    <a:pt x="2081105" y="1510622"/>
                    <a:pt x="2071357" y="1510622"/>
                  </a:cubicBezTo>
                  <a:lnTo>
                    <a:pt x="36755" y="1510622"/>
                  </a:lnTo>
                  <a:cubicBezTo>
                    <a:pt x="27007" y="1510622"/>
                    <a:pt x="17658" y="1506750"/>
                    <a:pt x="10765" y="1499857"/>
                  </a:cubicBezTo>
                  <a:cubicBezTo>
                    <a:pt x="3872" y="1492964"/>
                    <a:pt x="0" y="1483615"/>
                    <a:pt x="0" y="1473867"/>
                  </a:cubicBezTo>
                  <a:lnTo>
                    <a:pt x="0" y="36755"/>
                  </a:lnTo>
                  <a:cubicBezTo>
                    <a:pt x="0" y="27007"/>
                    <a:pt x="3872" y="17658"/>
                    <a:pt x="10765" y="10765"/>
                  </a:cubicBezTo>
                  <a:cubicBezTo>
                    <a:pt x="17658" y="3872"/>
                    <a:pt x="27007" y="0"/>
                    <a:pt x="36755" y="0"/>
                  </a:cubicBezTo>
                  <a:close/>
                </a:path>
              </a:pathLst>
            </a:custGeom>
            <a:solidFill>
              <a:srgbClr val="FAF6F1"/>
            </a:solidFill>
            <a:ln w="19050" cap="rnd">
              <a:solidFill>
                <a:srgbClr val="641919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8112" cy="1558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11057" y="3327806"/>
            <a:ext cx="7449021" cy="173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47"/>
              </a:lnSpc>
              <a:spcBef>
                <a:spcPct val="0"/>
              </a:spcBef>
            </a:pPr>
            <a:r>
              <a:rPr lang="en-US" sz="6899" spc="-289" strike="noStrike" u="none">
                <a:solidFill>
                  <a:srgbClr val="1A6070"/>
                </a:solidFill>
                <a:latin typeface="Migra Extra-Light"/>
                <a:ea typeface="Migra Extra-Light"/>
                <a:cs typeface="Migra Extra-Light"/>
                <a:sym typeface="Migra Extra-Light"/>
              </a:rPr>
              <a:t>“Frå Au</a:t>
            </a:r>
            <a:r>
              <a:rPr lang="en-US" sz="6899" spc="-289" strike="noStrike" u="none">
                <a:solidFill>
                  <a:srgbClr val="1A6070"/>
                </a:solidFill>
                <a:latin typeface="Migra Extra-Light"/>
                <a:ea typeface="Migra Extra-Light"/>
                <a:cs typeface="Migra Extra-Light"/>
                <a:sym typeface="Migra Extra-Light"/>
              </a:rPr>
              <a:t>r</a:t>
            </a:r>
            <a:r>
              <a:rPr lang="en-US" sz="6899" spc="-289" strike="noStrike" u="none">
                <a:solidFill>
                  <a:srgbClr val="1A6070"/>
                </a:solidFill>
                <a:latin typeface="Migra Extra-Light"/>
                <a:ea typeface="Migra Extra-Light"/>
                <a:cs typeface="Migra Extra-Light"/>
                <a:sym typeface="Migra Extra-Light"/>
              </a:rPr>
              <a:t>e </a:t>
            </a:r>
          </a:p>
          <a:p>
            <a:pPr algn="ctr" marL="0" indent="0" lvl="0">
              <a:lnSpc>
                <a:spcPts val="6347"/>
              </a:lnSpc>
              <a:spcBef>
                <a:spcPct val="0"/>
              </a:spcBef>
            </a:pPr>
            <a:r>
              <a:rPr lang="en-US" sz="6899" spc="-289" strike="noStrike" u="none">
                <a:solidFill>
                  <a:srgbClr val="1A6070"/>
                </a:solidFill>
                <a:latin typeface="Migra Extra-Light"/>
                <a:ea typeface="Migra Extra-Light"/>
                <a:cs typeface="Migra Extra-Light"/>
                <a:sym typeface="Migra Extra-Light"/>
              </a:rPr>
              <a:t>til verdshava”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5144" y="5999539"/>
            <a:ext cx="6640848" cy="164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9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</a:t>
            </a:r>
            <a:r>
              <a:rPr lang="en-US" sz="19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enne er sterk fordi den er minneverdig, bygger identitet, gir lokal stolthet og peker mot global leveranse og ambisjon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615144" y="5023281"/>
            <a:ext cx="6640848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2499" b="true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Hovedtagline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488665" y="5670591"/>
            <a:ext cx="6893807" cy="0"/>
          </a:xfrm>
          <a:prstGeom prst="line">
            <a:avLst/>
          </a:prstGeom>
          <a:ln cap="flat" w="19050">
            <a:solidFill>
              <a:srgbClr val="64191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172865" y="3557223"/>
            <a:ext cx="6640848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2499" b="true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Supporting tagline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72865" y="4041038"/>
            <a:ext cx="6640848" cy="164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19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Denne funge</a:t>
            </a:r>
            <a:r>
              <a:rPr lang="en-US" sz="1999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rer godt i presentasjoner, brosjyrer, nettside og messestands – særlig når du vil være litt tydeligere og mer forklarende.</a:t>
            </a:r>
          </a:p>
          <a:p>
            <a:pPr algn="ctr">
              <a:lnSpc>
                <a:spcPts val="335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172865" y="5790624"/>
            <a:ext cx="6640848" cy="200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</a:pPr>
            <a:r>
              <a:rPr lang="en-US" sz="5600" spc="-235" strike="noStrike" u="none">
                <a:solidFill>
                  <a:srgbClr val="1A6070"/>
                </a:solidFill>
                <a:latin typeface="Migra Extra-Light"/>
                <a:ea typeface="Migra Extra-Light"/>
                <a:cs typeface="Migra Extra-Light"/>
                <a:sym typeface="Migra Extra-Light"/>
              </a:rPr>
              <a:t>“Lokal kompetanse. Global rekkevidde</a:t>
            </a:r>
            <a:r>
              <a:rPr lang="en-US" sz="5600" spc="-235" strike="noStrike" u="none">
                <a:solidFill>
                  <a:srgbClr val="1A6070"/>
                </a:solidFill>
                <a:latin typeface="Migra Extra-Light"/>
                <a:ea typeface="Migra Extra-Light"/>
                <a:cs typeface="Migra Extra-Light"/>
                <a:sym typeface="Migra Extra-Light"/>
              </a:rPr>
              <a:t>”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0046385" y="5670591"/>
            <a:ext cx="6893807" cy="0"/>
          </a:xfrm>
          <a:prstGeom prst="line">
            <a:avLst/>
          </a:prstGeom>
          <a:ln cap="flat" w="19050">
            <a:solidFill>
              <a:srgbClr val="641919"/>
            </a:solidFill>
            <a:prstDash val="sysDash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A60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690542"/>
            <a:ext cx="3016438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AF6F1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MB Hydraulikk 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62048" y="430674"/>
            <a:ext cx="6640848" cy="1097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399"/>
              </a:lnSpc>
            </a:pPr>
            <a:r>
              <a:rPr lang="en-US" sz="8076" i="true" spc="-339">
                <a:solidFill>
                  <a:srgbClr val="FAF6F1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Budskap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59095" y="1724471"/>
            <a:ext cx="8700857" cy="8255122"/>
            <a:chOff x="0" y="0"/>
            <a:chExt cx="2291584" cy="21741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1584" cy="2174188"/>
            </a:xfrm>
            <a:custGeom>
              <a:avLst/>
              <a:gdLst/>
              <a:ahLst/>
              <a:cxnLst/>
              <a:rect r="r" b="b" t="t" l="l"/>
              <a:pathLst>
                <a:path h="2174188" w="2291584">
                  <a:moveTo>
                    <a:pt x="33812" y="0"/>
                  </a:moveTo>
                  <a:lnTo>
                    <a:pt x="2257772" y="0"/>
                  </a:lnTo>
                  <a:cubicBezTo>
                    <a:pt x="2266739" y="0"/>
                    <a:pt x="2275340" y="3562"/>
                    <a:pt x="2281680" y="9903"/>
                  </a:cubicBezTo>
                  <a:cubicBezTo>
                    <a:pt x="2288021" y="16244"/>
                    <a:pt x="2291584" y="24844"/>
                    <a:pt x="2291584" y="33812"/>
                  </a:cubicBezTo>
                  <a:lnTo>
                    <a:pt x="2291584" y="2140377"/>
                  </a:lnTo>
                  <a:cubicBezTo>
                    <a:pt x="2291584" y="2159050"/>
                    <a:pt x="2276446" y="2174188"/>
                    <a:pt x="2257772" y="2174188"/>
                  </a:cubicBezTo>
                  <a:lnTo>
                    <a:pt x="33812" y="2174188"/>
                  </a:lnTo>
                  <a:cubicBezTo>
                    <a:pt x="24844" y="2174188"/>
                    <a:pt x="16244" y="2170626"/>
                    <a:pt x="9903" y="2164285"/>
                  </a:cubicBezTo>
                  <a:cubicBezTo>
                    <a:pt x="3562" y="2157944"/>
                    <a:pt x="0" y="2149344"/>
                    <a:pt x="0" y="2140377"/>
                  </a:cubicBezTo>
                  <a:lnTo>
                    <a:pt x="0" y="33812"/>
                  </a:lnTo>
                  <a:cubicBezTo>
                    <a:pt x="0" y="24844"/>
                    <a:pt x="3562" y="16244"/>
                    <a:pt x="9903" y="9903"/>
                  </a:cubicBezTo>
                  <a:cubicBezTo>
                    <a:pt x="16244" y="3562"/>
                    <a:pt x="24844" y="0"/>
                    <a:pt x="33812" y="0"/>
                  </a:cubicBezTo>
                  <a:close/>
                </a:path>
              </a:pathLst>
            </a:custGeom>
            <a:solidFill>
              <a:srgbClr val="FAF6F1"/>
            </a:solidFill>
            <a:ln w="19050" cap="rnd">
              <a:solidFill>
                <a:srgbClr val="641919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291584" cy="2221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70926" y="1724471"/>
            <a:ext cx="8657979" cy="8255122"/>
            <a:chOff x="0" y="0"/>
            <a:chExt cx="2280291" cy="21741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0291" cy="2174188"/>
            </a:xfrm>
            <a:custGeom>
              <a:avLst/>
              <a:gdLst/>
              <a:ahLst/>
              <a:cxnLst/>
              <a:rect r="r" b="b" t="t" l="l"/>
              <a:pathLst>
                <a:path h="2174188" w="2280291">
                  <a:moveTo>
                    <a:pt x="33979" y="0"/>
                  </a:moveTo>
                  <a:lnTo>
                    <a:pt x="2246312" y="0"/>
                  </a:lnTo>
                  <a:cubicBezTo>
                    <a:pt x="2255323" y="0"/>
                    <a:pt x="2263966" y="3580"/>
                    <a:pt x="2270339" y="9952"/>
                  </a:cubicBezTo>
                  <a:cubicBezTo>
                    <a:pt x="2276711" y="16325"/>
                    <a:pt x="2280291" y="24968"/>
                    <a:pt x="2280291" y="33979"/>
                  </a:cubicBezTo>
                  <a:lnTo>
                    <a:pt x="2280291" y="2140209"/>
                  </a:lnTo>
                  <a:cubicBezTo>
                    <a:pt x="2280291" y="2158975"/>
                    <a:pt x="2265078" y="2174188"/>
                    <a:pt x="2246312" y="2174188"/>
                  </a:cubicBezTo>
                  <a:lnTo>
                    <a:pt x="33979" y="2174188"/>
                  </a:lnTo>
                  <a:cubicBezTo>
                    <a:pt x="24968" y="2174188"/>
                    <a:pt x="16325" y="2170608"/>
                    <a:pt x="9952" y="2164236"/>
                  </a:cubicBezTo>
                  <a:cubicBezTo>
                    <a:pt x="3580" y="2157864"/>
                    <a:pt x="0" y="2149221"/>
                    <a:pt x="0" y="2140209"/>
                  </a:cubicBezTo>
                  <a:lnTo>
                    <a:pt x="0" y="33979"/>
                  </a:lnTo>
                  <a:cubicBezTo>
                    <a:pt x="0" y="24968"/>
                    <a:pt x="3580" y="16325"/>
                    <a:pt x="9952" y="9952"/>
                  </a:cubicBezTo>
                  <a:cubicBezTo>
                    <a:pt x="16325" y="3580"/>
                    <a:pt x="24968" y="0"/>
                    <a:pt x="33979" y="0"/>
                  </a:cubicBezTo>
                  <a:close/>
                </a:path>
              </a:pathLst>
            </a:custGeom>
            <a:solidFill>
              <a:srgbClr val="FAF6F1"/>
            </a:solidFill>
            <a:ln w="19050" cap="rnd">
              <a:solidFill>
                <a:srgbClr val="641919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280291" cy="2221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954004"/>
            <a:ext cx="7449021" cy="189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6"/>
              </a:lnSpc>
            </a:pPr>
            <a:r>
              <a:rPr lang="en-US" sz="3200" i="true" spc="-134">
                <a:solidFill>
                  <a:srgbClr val="1A607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MB Hydraulikk utvikler og produserer robuste hydrauliske løsninger for maritimt bruk – bygget for krevende miljø, drift over tid og enkelt vedlikehold.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3450" y="6747263"/>
            <a:ext cx="7847508" cy="2662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7"/>
              </a:lnSpc>
            </a:pPr>
            <a:r>
              <a:rPr lang="en-US" b="true" sz="2099" i="true">
                <a:solidFill>
                  <a:srgbClr val="000000"/>
                </a:solidFill>
                <a:latin typeface="Plus Jakarta Sans Medium Italics"/>
                <a:ea typeface="Plus Jakarta Sans Medium Italics"/>
                <a:cs typeface="Plus Jakarta Sans Medium Italics"/>
                <a:sym typeface="Plus Jakarta Sans Medium Italics"/>
              </a:rPr>
              <a:t>M</a:t>
            </a:r>
            <a:r>
              <a:rPr lang="en-US" b="true" sz="2099" i="true">
                <a:solidFill>
                  <a:srgbClr val="000000"/>
                </a:solidFill>
                <a:latin typeface="Plus Jakarta Sans Medium Italics"/>
                <a:ea typeface="Plus Jakarta Sans Medium Italics"/>
                <a:cs typeface="Plus Jakarta Sans Medium Italics"/>
                <a:sym typeface="Plus Jakarta Sans Medium Italics"/>
              </a:rPr>
              <a:t>ed forankring i Mjosundet utvikler MB Hydraulikk lettvekts dekksutstyr og systemløsninger i sjøvannsbestandig aluminium og rustfritt stål. Produktene er laget for å tåle krevende maritime forhold og brukes innen fiskeri, oppdrett, seismikk, verft, forskning og forsvar – over hele verden.</a:t>
            </a:r>
          </a:p>
          <a:p>
            <a:pPr algn="l">
              <a:lnSpc>
                <a:spcPts val="352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404617" y="2193406"/>
            <a:ext cx="6640848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2499" b="true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Hovedbudskap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404617" y="5212531"/>
            <a:ext cx="6893807" cy="0"/>
          </a:xfrm>
          <a:prstGeom prst="line">
            <a:avLst/>
          </a:prstGeom>
          <a:ln cap="flat" w="19050">
            <a:solidFill>
              <a:srgbClr val="64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088817" y="2193406"/>
            <a:ext cx="6640848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2499" b="true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Støttebudskap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20436" y="3438128"/>
            <a:ext cx="7449021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999" b="tru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</a:t>
            </a:r>
            <a:r>
              <a:rPr lang="en-US" b="true" sz="1999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roduktene våre er utviklet for forhold der driftssikkerhet og levetid er avgjørende.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9099" y="6090927"/>
            <a:ext cx="6640848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2499" b="true">
                <a:solidFill>
                  <a:srgbClr val="000000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Utvidet budskap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20436" y="2842203"/>
            <a:ext cx="7449021" cy="46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6"/>
              </a:lnSpc>
            </a:pPr>
            <a:r>
              <a:rPr lang="en-US" sz="3200" i="true" spc="-134">
                <a:solidFill>
                  <a:srgbClr val="1A607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Bygget for krevende maritime miljø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20436" y="5145158"/>
            <a:ext cx="7912031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999" b="tru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Mate</a:t>
            </a:r>
            <a:r>
              <a:rPr lang="en-US" b="true" sz="1999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rialvalg og design gir lav vekt, høy funksjon og praktiske fordeler i drift.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20436" y="4546480"/>
            <a:ext cx="7449021" cy="46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76"/>
              </a:lnSpc>
            </a:pPr>
            <a:r>
              <a:rPr lang="en-US" sz="3200" i="true" spc="-134">
                <a:solidFill>
                  <a:srgbClr val="1A607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Lettvektsløsninger med høy styrke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0436" y="6803016"/>
            <a:ext cx="7673614" cy="123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999" b="tru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Vi k</a:t>
            </a:r>
            <a:r>
              <a:rPr lang="en-US" b="true" sz="1999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ombinerer lokal produksjon og fagkunnskap med leveranser til krevende kunder og markeder internasjonalt.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9820436" y="6204338"/>
            <a:ext cx="4866725" cy="46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6"/>
              </a:lnSpc>
            </a:pPr>
            <a:r>
              <a:rPr lang="en-US" sz="3200" i="true" spc="-134">
                <a:solidFill>
                  <a:srgbClr val="1A607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Lokalt utviklet, globalt brukt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20436" y="8506594"/>
            <a:ext cx="7673614" cy="123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1999" b="tru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Vi utv</a:t>
            </a:r>
            <a:r>
              <a:rPr lang="en-US" b="true" sz="1999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ikler løsninger som gjør hverdagen enklere – med fokus på bruk, vedlikehold og total ytelse over tid.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820436" y="7907916"/>
            <a:ext cx="6570751" cy="46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6"/>
              </a:lnSpc>
            </a:pPr>
            <a:r>
              <a:rPr lang="en-US" sz="3200" i="true" spc="-134">
                <a:solidFill>
                  <a:srgbClr val="1A6070"/>
                </a:solidFill>
                <a:latin typeface="Plus Jakarta Sans Italics"/>
                <a:ea typeface="Plus Jakarta Sans Italics"/>
                <a:cs typeface="Plus Jakarta Sans Italics"/>
                <a:sym typeface="Plus Jakarta Sans Italics"/>
              </a:rPr>
              <a:t>Praktisk verdi for kunden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15376" y="7901231"/>
            <a:ext cx="634493" cy="6344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6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012895" y="8144995"/>
            <a:ext cx="273948" cy="224295"/>
          </a:xfrm>
          <a:custGeom>
            <a:avLst/>
            <a:gdLst/>
            <a:ahLst/>
            <a:cxnLst/>
            <a:rect r="r" b="b" t="t" l="l"/>
            <a:pathLst>
              <a:path h="224295" w="273948">
                <a:moveTo>
                  <a:pt x="0" y="0"/>
                </a:moveTo>
                <a:lnTo>
                  <a:pt x="273948" y="0"/>
                </a:lnTo>
                <a:lnTo>
                  <a:pt x="273948" y="224295"/>
                </a:lnTo>
                <a:lnTo>
                  <a:pt x="0" y="224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50427" y="2143707"/>
            <a:ext cx="13387146" cy="4639769"/>
          </a:xfrm>
          <a:custGeom>
            <a:avLst/>
            <a:gdLst/>
            <a:ahLst/>
            <a:cxnLst/>
            <a:rect r="r" b="b" t="t" l="l"/>
            <a:pathLst>
              <a:path h="4639769" w="13387146">
                <a:moveTo>
                  <a:pt x="0" y="0"/>
                </a:moveTo>
                <a:lnTo>
                  <a:pt x="13387146" y="0"/>
                </a:lnTo>
                <a:lnTo>
                  <a:pt x="13387146" y="4639769"/>
                </a:lnTo>
                <a:lnTo>
                  <a:pt x="0" y="463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471477" y="8029565"/>
            <a:ext cx="47878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A2E35"/>
                </a:solidFill>
                <a:latin typeface="Plus Jakarta Sans Bold"/>
                <a:ea typeface="Plus Jakarta Sans Bold"/>
                <a:cs typeface="Plus Jakarta Sans Bold"/>
                <a:sym typeface="Plus Jakarta Sans Bold"/>
              </a:rPr>
              <a:t>post@mbh.no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DAHN713tf1U</dc:identifier>
  <dcterms:modified xsi:type="dcterms:W3CDTF">2011-08-01T06:04:30Z</dcterms:modified>
  <cp:revision>1</cp:revision>
  <dc:title>1_Guidelines</dc:title>
</cp:coreProperties>
</file>